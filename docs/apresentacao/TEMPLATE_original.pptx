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96" r:id="rId2"/>
    <p:sldId id="335" r:id="rId3"/>
    <p:sldId id="337" r:id="rId4"/>
    <p:sldId id="330" r:id="rId5"/>
    <p:sldId id="338" r:id="rId6"/>
    <p:sldId id="336" r:id="rId7"/>
    <p:sldId id="331" r:id="rId8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5F421-7B3D-4C0A-8292-59F4C42B7939}" type="datetimeFigureOut"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49A2C-294F-47D7-BE8F-777A74905E1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69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33EA8470-A4B0-4D85-98ED-0A822041BAB0}"/>
              </a:ext>
            </a:extLst>
          </p:cNvPr>
          <p:cNvSpPr/>
          <p:nvPr userDrawn="1"/>
        </p:nvSpPr>
        <p:spPr>
          <a:xfrm>
            <a:off x="3289874" y="4668819"/>
            <a:ext cx="8902126" cy="1427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pt-BR" sz="100" noProof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A180598-73E8-41A4-A29B-4E29C2791D7E}"/>
              </a:ext>
            </a:extLst>
          </p:cNvPr>
          <p:cNvSpPr/>
          <p:nvPr userDrawn="1"/>
        </p:nvSpPr>
        <p:spPr>
          <a:xfrm>
            <a:off x="3289874" y="761997"/>
            <a:ext cx="8902126" cy="38322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C24467-2B73-4438-AD75-4AE0A86FA910}"/>
              </a:ext>
            </a:extLst>
          </p:cNvPr>
          <p:cNvSpPr/>
          <p:nvPr userDrawn="1"/>
        </p:nvSpPr>
        <p:spPr>
          <a:xfrm>
            <a:off x="0" y="761998"/>
            <a:ext cx="3200400" cy="5334001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722622" y="1298448"/>
            <a:ext cx="7187529" cy="2922551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722622" y="4876090"/>
            <a:ext cx="7187529" cy="914400"/>
          </a:xfrm>
        </p:spPr>
        <p:txBody>
          <a:bodyPr rtlCol="0" anchor="ctr" anchorCtr="0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27A695-FB21-4262-95A7-7EDDDD7A1B72}" type="datetime1">
              <a:rPr lang="pt-BR" noProof="0" smtClean="0"/>
              <a:t>18/09/2026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5490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8" name="Espaço Reservado para Data 3">
            <a:extLst>
              <a:ext uri="{FF2B5EF4-FFF2-40B4-BE49-F238E27FC236}">
                <a16:creationId xmlns:a16="http://schemas.microsoft.com/office/drawing/2014/main" id="{5AA5E670-4D55-43E7-A5BE-FE9C8096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7AF88017-72C1-402A-A7F0-7235F685796A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4548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170462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287810" y="2526525"/>
            <a:ext cx="1090597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F0772FB0-32ED-4DB8-9F56-587A5BEF3F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83974" y="2684770"/>
            <a:ext cx="9120216" cy="3304549"/>
          </a:xfrm>
        </p:spPr>
        <p:txBody>
          <a:bodyPr rtlCol="0" anchor="ctr" anchorCtr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 cap="none" spc="0" baseline="0">
                <a:solidFill>
                  <a:schemeClr val="bg2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3" name="Espaço Reservado para Dat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B0BD33F6-4D17-4C94-AB0B-40709746FD07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3242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630838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630837" y="2526525"/>
            <a:ext cx="10574682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3" name="Espaço Reservado para Dat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8AFA474B-04F7-4ED9-AAD2-147627324A1B}" type="datetime1">
              <a:rPr lang="pt-BR" noProof="0" smtClean="0"/>
              <a:t>18/09/2026</a:t>
            </a:fld>
            <a:endParaRPr lang="pt-BR" noProof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465B3165-6F10-4D0F-9BC8-B4C451444D6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62466" y="2684770"/>
            <a:ext cx="1259814" cy="330454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0EC084C-1181-4416-B55B-179995FCEE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83974" y="2684770"/>
            <a:ext cx="9120217" cy="33045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48670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CCA687-AB7D-4035-849A-4D9F7C0401C1}"/>
              </a:ext>
            </a:extLst>
          </p:cNvPr>
          <p:cNvSpPr/>
          <p:nvPr userDrawn="1"/>
        </p:nvSpPr>
        <p:spPr>
          <a:xfrm>
            <a:off x="-1" y="2526525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5B57C12-8635-490F-AC5E-880EE5EFB9F2}"/>
              </a:ext>
            </a:extLst>
          </p:cNvPr>
          <p:cNvSpPr/>
          <p:nvPr userDrawn="1"/>
        </p:nvSpPr>
        <p:spPr>
          <a:xfrm>
            <a:off x="3200401" y="2526525"/>
            <a:ext cx="848164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F4D011-4812-426A-AF72-052AC843FFB5}"/>
              </a:ext>
            </a:extLst>
          </p:cNvPr>
          <p:cNvSpPr/>
          <p:nvPr userDrawn="1"/>
        </p:nvSpPr>
        <p:spPr>
          <a:xfrm>
            <a:off x="0" y="758952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933F083-BCA0-42F4-BB66-81AD5A4DA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954" y="2637691"/>
            <a:ext cx="2431210" cy="334705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40193E2-84B1-4994-8F97-4A2EBCE6D1A5}"/>
              </a:ext>
            </a:extLst>
          </p:cNvPr>
          <p:cNvSpPr/>
          <p:nvPr userDrawn="1"/>
        </p:nvSpPr>
        <p:spPr>
          <a:xfrm>
            <a:off x="11815866" y="2526524"/>
            <a:ext cx="376134" cy="356795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69071-305C-4C40-87F4-0EE8553B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7275" y="2638425"/>
            <a:ext cx="8091488" cy="334645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7" name="Espaço Reservado para Data 3">
            <a:extLst>
              <a:ext uri="{FF2B5EF4-FFF2-40B4-BE49-F238E27FC236}">
                <a16:creationId xmlns:a16="http://schemas.microsoft.com/office/drawing/2014/main" id="{C8501626-512F-4A26-9857-5FC55FC3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5E94A7A8-12FD-4062-AA2F-C6F646D24359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0103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tens de título à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5B57C12-8635-490F-AC5E-880EE5EFB9F2}"/>
              </a:ext>
            </a:extLst>
          </p:cNvPr>
          <p:cNvSpPr/>
          <p:nvPr userDrawn="1"/>
        </p:nvSpPr>
        <p:spPr>
          <a:xfrm>
            <a:off x="527125" y="2524913"/>
            <a:ext cx="848164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CCA687-AB7D-4035-849A-4D9F7C0401C1}"/>
              </a:ext>
            </a:extLst>
          </p:cNvPr>
          <p:cNvSpPr/>
          <p:nvPr userDrawn="1"/>
        </p:nvSpPr>
        <p:spPr>
          <a:xfrm>
            <a:off x="9118064" y="2524912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F4D011-4812-426A-AF72-052AC843FFB5}"/>
              </a:ext>
            </a:extLst>
          </p:cNvPr>
          <p:cNvSpPr/>
          <p:nvPr userDrawn="1"/>
        </p:nvSpPr>
        <p:spPr>
          <a:xfrm>
            <a:off x="9118063" y="765851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933F083-BCA0-42F4-BB66-81AD5A4DA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25958" y="2641544"/>
            <a:ext cx="2431210" cy="334705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40193E2-84B1-4994-8F97-4A2EBCE6D1A5}"/>
              </a:ext>
            </a:extLst>
          </p:cNvPr>
          <p:cNvSpPr/>
          <p:nvPr userDrawn="1"/>
        </p:nvSpPr>
        <p:spPr>
          <a:xfrm>
            <a:off x="15348" y="2531097"/>
            <a:ext cx="376134" cy="35679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69071-305C-4C40-87F4-0EE8553B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2203" y="2633375"/>
            <a:ext cx="8091488" cy="334645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7" name="Espaço Reservado para Data 3">
            <a:extLst>
              <a:ext uri="{FF2B5EF4-FFF2-40B4-BE49-F238E27FC236}">
                <a16:creationId xmlns:a16="http://schemas.microsoft.com/office/drawing/2014/main" id="{C8501626-512F-4A26-9857-5FC55FC3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16394F94-D8C0-4CEF-80E4-5540980881C9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2745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6071088"/>
            <a:ext cx="12191999" cy="7869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89144" y="2158949"/>
            <a:ext cx="2013711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3858" y="1368044"/>
            <a:ext cx="10384282" cy="274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4D77CD-76C1-896C-19AB-23326EB8A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4039" y="2257961"/>
            <a:ext cx="5323921" cy="2708434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800" b="1" dirty="0">
                <a:latin typeface="+mn-lt"/>
                <a:ea typeface="Aptos" panose="020B0004020202020204" pitchFamily="34" charset="0"/>
              </a:rPr>
              <a:t>6º SENAC INNOVADAY 04/09/2026 SENAC INNOVADAY</a:t>
            </a:r>
            <a:endParaRPr lang="pt-BR" sz="2800" b="1" dirty="0">
              <a:effectLst/>
              <a:latin typeface="+mn-lt"/>
              <a:ea typeface="Aptos" panose="020B0004020202020204" pitchFamily="34" charset="0"/>
            </a:endParaRPr>
          </a:p>
          <a:p>
            <a:pPr algn="ctr"/>
            <a:r>
              <a:rPr lang="pt-BR" sz="2400" dirty="0">
                <a:latin typeface="+mn-lt"/>
                <a:ea typeface="Calibri"/>
              </a:rPr>
              <a:t>04/09/2026</a:t>
            </a:r>
            <a:endParaRPr lang="pt-BR" sz="2800" b="1" dirty="0">
              <a:latin typeface="+mn-lt"/>
              <a:ea typeface="Calibri"/>
            </a:endParaRPr>
          </a:p>
          <a:p>
            <a:pPr algn="ctr"/>
            <a:endParaRPr lang="pt-BR" sz="2400" dirty="0">
              <a:solidFill>
                <a:srgbClr val="000000"/>
              </a:solidFill>
              <a:ea typeface="Calibri"/>
            </a:endParaRPr>
          </a:p>
          <a:p>
            <a:pPr algn="ctr"/>
            <a:r>
              <a:rPr lang="pt-BR" sz="4800" b="1" dirty="0">
                <a:solidFill>
                  <a:srgbClr val="004A91"/>
                </a:solidFill>
                <a:latin typeface="Poppins"/>
                <a:ea typeface="Calibri"/>
                <a:cs typeface="Poppins"/>
              </a:rPr>
              <a:t>LABOX</a:t>
            </a:r>
            <a:endParaRPr lang="pt-BR" dirty="0"/>
          </a:p>
          <a:p>
            <a:pPr algn="ctr"/>
            <a:endParaRPr lang="pt-BR" sz="2400" dirty="0">
              <a:ea typeface="Calibri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989F258-531F-8EAB-55F9-9DA316726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204" y="251741"/>
            <a:ext cx="1457882" cy="85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B29AF384-76C7-4547-50EA-7C1A33E2E1B5}"/>
              </a:ext>
            </a:extLst>
          </p:cNvPr>
          <p:cNvSpPr txBox="1">
            <a:spLocks/>
          </p:cNvSpPr>
          <p:nvPr/>
        </p:nvSpPr>
        <p:spPr>
          <a:xfrm>
            <a:off x="3611890" y="1360715"/>
            <a:ext cx="43480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kern="0">
                <a:latin typeface="+mn-lt"/>
                <a:ea typeface="Aptos" panose="020B0004020202020204" pitchFamily="34" charset="0"/>
              </a:rPr>
              <a:t>Diretoria de Educação Profissional</a:t>
            </a:r>
          </a:p>
          <a:p>
            <a:pPr algn="ctr"/>
            <a:r>
              <a:rPr lang="pt-BR" sz="1600" kern="0">
                <a:latin typeface="+mn-lt"/>
              </a:rPr>
              <a:t> Faculdade de Tecnologia e Inovação Senac-DF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1A253D-D8FF-F0B5-4563-70BBF5ECDCD2}"/>
              </a:ext>
            </a:extLst>
          </p:cNvPr>
          <p:cNvSpPr txBox="1"/>
          <p:nvPr/>
        </p:nvSpPr>
        <p:spPr>
          <a:xfrm>
            <a:off x="5038287" y="5823411"/>
            <a:ext cx="181062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b="1">
                <a:ea typeface="Calibri"/>
              </a:rPr>
              <a:t>Brasília</a:t>
            </a:r>
            <a:r>
              <a:rPr lang="pt-BR" b="1">
                <a:ea typeface="Aptos" panose="020B0004020202020204" pitchFamily="34" charset="0"/>
              </a:rPr>
              <a:t> 2026</a:t>
            </a:r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08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8470" y="572520"/>
            <a:ext cx="3185286" cy="1231106"/>
          </a:xfrm>
        </p:spPr>
        <p:txBody>
          <a:bodyPr/>
          <a:lstStyle/>
          <a:p>
            <a:r>
              <a:rPr lang="pt-BR" sz="4000" b="1"/>
              <a:t>Nosso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03859" y="2044005"/>
            <a:ext cx="10384282" cy="2769989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BR" sz="3600" dirty="0"/>
              <a:t>Rodrigo Andrade da Ponte </a:t>
            </a:r>
          </a:p>
          <a:p>
            <a:r>
              <a:rPr lang="pt-BR" sz="3600" dirty="0"/>
              <a:t>Izabel Cristina Alves de Oliveira </a:t>
            </a:r>
          </a:p>
          <a:p>
            <a:r>
              <a:rPr lang="pt-BR" sz="3600" dirty="0"/>
              <a:t>Magno Guimaraes da Silva  </a:t>
            </a:r>
          </a:p>
          <a:p>
            <a:endParaRPr lang="pt-BR" sz="3600" dirty="0"/>
          </a:p>
          <a:p>
            <a:r>
              <a:rPr lang="pt-BR" sz="3600" dirty="0"/>
              <a:t>Orientador: Jean Lima</a:t>
            </a:r>
            <a:endParaRPr lang="pt-BR" sz="3600" dirty="0">
              <a:ea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024C-2741-7A64-B631-6267C90A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027" y="242014"/>
            <a:ext cx="5165032" cy="615553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BR" sz="4000" b="1"/>
              <a:t>Considerações iniciais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03CA-7122-E436-FD92-6063E3988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1875" y="2002064"/>
            <a:ext cx="10384282" cy="3323987"/>
          </a:xfrm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pt-BR" sz="2400" dirty="0"/>
              <a:t>A LAVBOX surge para revolucionar o mercado de estética automotiva ao solucionar a ineficiência e a perda de tempo dos lava-jatos tradicionais. Atuando como uma plataforma de serviços in loco (home/office </a:t>
            </a:r>
            <a:r>
              <a:rPr lang="pt-BR" sz="2400" dirty="0" err="1"/>
              <a:t>care</a:t>
            </a:r>
            <a:r>
              <a:rPr lang="pt-BR" sz="2400" dirty="0"/>
              <a:t>), a empresa elimina o stress de deslocamento e filas de espera unindo máxima conveniência logística a uma rigorosa customização técnica. Através do nosso sistema, o cliente assume o controle total da experiência, podendo definir o pacote de serviços, especificar os produtos de limpeza que serão aplicados, agendar a janela de horário ideal e determinar o ponto de geolocalizador exato do atendimento, transformando a manutenção do veículo em um processo prático, seguro e totalmente sob medida.</a:t>
            </a:r>
            <a:endParaRPr lang="pt-BR" sz="24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5941" y="264048"/>
            <a:ext cx="6945895" cy="615553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BR" sz="4000" b="1"/>
              <a:t>Dados do Problema Identificado</a:t>
            </a:r>
            <a:endParaRPr lang="pt-BR" sz="4000" b="1">
              <a:ea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03858" y="1368044"/>
            <a:ext cx="10384282" cy="2585323"/>
          </a:xfrm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pt-BR" sz="2400" dirty="0"/>
              <a:t>O projeto LAVBOX soluciona as principais ineficiências do mercado tradicional de estética automotiva, marcado pelo desperdício de horas úteis do cliente com deslocamentos no trânsito e ociosidade em filas de espera. Além do atrito logístico gerado pela inflexibilidade de horários e locais, o modelo convencional impõe uma rotina engessada e peca pela ausência de padronização no atendimento, agravada pela falta de transparência e pela impossibilidade de o consumidor controlar a qualidade dos produtos de limpeza automotivo aplicados em seu veículo.</a:t>
            </a:r>
            <a:endParaRPr lang="en-US" sz="24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F4C08D-C205-331F-9889-F509B4B14128}"/>
              </a:ext>
            </a:extLst>
          </p:cNvPr>
          <p:cNvSpPr txBox="1"/>
          <p:nvPr/>
        </p:nvSpPr>
        <p:spPr>
          <a:xfrm>
            <a:off x="7580376" y="4873752"/>
            <a:ext cx="184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0459D-02F2-D0D4-6A42-10C69972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762DD4-8AA8-A883-4D4F-929862A5B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65C363-F435-C0A3-ACAD-8C4E961543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5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30FFB-926D-DC9F-A1AE-84BD1394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857C4-61AF-48ED-3FEC-F0A7603B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941" y="264048"/>
            <a:ext cx="6945895" cy="615553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BR" sz="4000" b="1"/>
              <a:t>Dados do Projeto</a:t>
            </a:r>
            <a:endParaRPr lang="pt-BR" sz="4000" b="1">
              <a:ea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0F4F-A362-7ACD-A8B2-772B80478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3858" y="1368044"/>
            <a:ext cx="10384282" cy="3323987"/>
          </a:xfrm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pt-BR" sz="2400" dirty="0"/>
              <a:t>A LAVBOX surge para revolucionar o mercado de estética automotiva ao solucionar a ineficiência e a perda de tempo dos lava-jatos tradicionais. Atuando como uma plataforma de serviços in loco (home/office </a:t>
            </a:r>
            <a:r>
              <a:rPr lang="pt-BR" sz="2400" dirty="0" err="1"/>
              <a:t>care</a:t>
            </a:r>
            <a:r>
              <a:rPr lang="pt-BR" sz="2400" dirty="0"/>
              <a:t>), a empresa elimina as fricções de deslocamento e filas de espera unindo máxima conveniência logística a uma rigorosa customização técnica. Através do nosso sistema, o cliente assume o controle total da experiência, podendo definir o pacote de serviços, especificar os produtos químicos que serão aplicados, agendar a janela de horário ideal e determinar o ponto geográfico exato do atendimento, transformando a manutenção do veículo em um processo prático, seguro e totalmente sob medida.</a:t>
            </a:r>
            <a:endParaRPr lang="pt-BR" sz="24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2575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7548" y="354555"/>
            <a:ext cx="3867049" cy="615553"/>
          </a:xfrm>
        </p:spPr>
        <p:txBody>
          <a:bodyPr/>
          <a:lstStyle/>
          <a:p>
            <a:r>
              <a:rPr lang="pt-BR" sz="4000" b="1" dirty="0"/>
              <a:t>Nossa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903859" y="1548381"/>
            <a:ext cx="10384282" cy="4062651"/>
          </a:xfrm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pt-BR" sz="2400" dirty="0"/>
              <a:t>Entregamos um sistema que transforma a manutenção do veículo por meio de um fluxo otimizado de 12 etapas, guiando o cliente desde o primeiro acesso até a conclusão e avaliação do atendimento. O que já foi feito: Estruturamos a base do negócio com o mapeamento completo do </a:t>
            </a:r>
            <a:r>
              <a:rPr lang="pt-BR" sz="2400" dirty="0" err="1"/>
              <a:t>Product</a:t>
            </a:r>
            <a:r>
              <a:rPr lang="pt-BR" sz="2400" dirty="0"/>
              <a:t> Backlog e criamos um protótipo navegável de alta fidelidade contemplando as telas mais críticas para conversão (Acesso, Login, Dashboard e Agendamento), permitindo a validação real antes do investimento em código. O que pretendemos desenvolver futuramente: Avançaremos para o desenvolvimento técnico do aplicativo, com a implementação de um checkout financeiro robusto e a integração de um sistema de rastreamento logístico em tempo real, permitindo que o cliente acompanhe cada etapa do serviço.</a:t>
            </a:r>
            <a:endParaRPr lang="pt-BR" sz="2400" dirty="0">
              <a:ea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Metadata/LabelInfo.xml><?xml version="1.0" encoding="utf-8"?>
<clbl:labelList xmlns:clbl="http://schemas.microsoft.com/office/2020/mipLabelMetadata">
  <clbl:label id="{26523bf9-62ff-46b8-971b-9f6596da50c8}" enabled="1" method="Standard" siteId="{e8782eb5-7640-4ac4-a813-63ada3587d7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505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Office Theme</vt:lpstr>
      <vt:lpstr>Apresentação do PowerPoint</vt:lpstr>
      <vt:lpstr>Nosso Time</vt:lpstr>
      <vt:lpstr>Considerações iniciais</vt:lpstr>
      <vt:lpstr>Dados do Problema Identificado</vt:lpstr>
      <vt:lpstr>Apresentação do PowerPoint</vt:lpstr>
      <vt:lpstr>Dados do Projeto</vt:lpstr>
      <vt:lpstr>Nossa Solução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Soiamma Tate de Souza Oliveira</dc:creator>
  <cp:lastModifiedBy>User</cp:lastModifiedBy>
  <cp:revision>53</cp:revision>
  <dcterms:created xsi:type="dcterms:W3CDTF">2022-11-09T01:00:34Z</dcterms:created>
  <dcterms:modified xsi:type="dcterms:W3CDTF">2026-09-18T23:31:05Z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2022-11-09T00:00:00Z</vt:filetime>
  </property>
</Properties>
</file>