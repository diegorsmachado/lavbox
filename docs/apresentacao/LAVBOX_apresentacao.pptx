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296" r:id="rId2"/>
    <p:sldId id="335" r:id="rId3"/>
    <p:sldId id="337" r:id="rId4"/>
    <p:sldId id="330" r:id="rId5"/>
    <p:sldId id="338" r:id="rId6"/>
    <p:sldId id="339" r:id="rId14"/>
    <p:sldId id="336" r:id="rId7"/>
    <p:sldId id="340" r:id="rId15"/>
    <p:sldId id="341" r:id="rId16"/>
    <p:sldId id="342" r:id="rId17"/>
    <p:sldId id="343" r:id="rId18"/>
    <p:sldId id="344" r:id="rId19"/>
    <p:sldId id="331" r:id="rId8"/>
  </p:sldIdLst>
  <p:sldSz cx="12192000" cy="6858000"/>
  <p:notesSz cx="12192000" cy="6858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C89EF96-8CEA-46FF-86C4-4CE0E7609802}" styleName="Estilo Claro 3 - Ênfase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B4B98B0-60AC-42C2-AFA5-B58CD77FA1E5}" styleName="Estilo Claro 1 - Ênfas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012ECD-51FC-41F1-AA8D-1B2483CD663E}" styleName="Estilo Claro 2 - Ênfase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301B821-A1FF-4177-AEE7-76D212191A09}" styleName="Estilo Médio 1 - Ênfas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E8B1032C-EA38-4F05-BA0D-38AFFFC7BED3}" styleName="Estilo Claro 3 - Ênfase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792" y="60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  <Relationship Id="rId14" Type="http://schemas.openxmlformats.org/officeDocument/2006/relationships/slide" Target="slides/slide8.xml"/>
  <Relationship Id="rId15" Type="http://schemas.openxmlformats.org/officeDocument/2006/relationships/slide" Target="slides/slide9.xml"/>
  <Relationship Id="rId16" Type="http://schemas.openxmlformats.org/officeDocument/2006/relationships/slide" Target="slides/slide10.xml"/>
  <Relationship Id="rId17" Type="http://schemas.openxmlformats.org/officeDocument/2006/relationships/slide" Target="slides/slide11.xml"/>
  <Relationship Id="rId18" Type="http://schemas.openxmlformats.org/officeDocument/2006/relationships/slide" Target="slides/slide12.xml"/>
  <Relationship Id="rId19" Type="http://schemas.openxmlformats.org/officeDocument/2006/relationships/slide" Target="slides/slide13.xml"/>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E5F421-7B3D-4C0A-8292-59F4C42B7939}" type="datetimeFigureOut">
              <a:t>18/09/2026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D449A2C-294F-47D7-BE8F-777A74905E1A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6692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tângulo 12">
            <a:extLst>
              <a:ext uri="{FF2B5EF4-FFF2-40B4-BE49-F238E27FC236}">
                <a16:creationId xmlns:a16="http://schemas.microsoft.com/office/drawing/2014/main" id="{33EA8470-A4B0-4D85-98ED-0A822041BAB0}"/>
              </a:ext>
            </a:extLst>
          </p:cNvPr>
          <p:cNvSpPr/>
          <p:nvPr userDrawn="1"/>
        </p:nvSpPr>
        <p:spPr>
          <a:xfrm>
            <a:off x="3289874" y="4668819"/>
            <a:ext cx="8902126" cy="1427179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pt-BR" sz="100" noProof="0"/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EA180598-73E8-41A4-A29B-4E29C2791D7E}"/>
              </a:ext>
            </a:extLst>
          </p:cNvPr>
          <p:cNvSpPr/>
          <p:nvPr userDrawn="1"/>
        </p:nvSpPr>
        <p:spPr>
          <a:xfrm>
            <a:off x="3289874" y="761997"/>
            <a:ext cx="8902126" cy="3832225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/>
          <a:lstStyle/>
          <a:p>
            <a:pPr rtl="0"/>
            <a:endParaRPr lang="pt-BR" noProof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id="{A4C24467-2B73-4438-AD75-4AE0A86FA910}"/>
              </a:ext>
            </a:extLst>
          </p:cNvPr>
          <p:cNvSpPr/>
          <p:nvPr userDrawn="1"/>
        </p:nvSpPr>
        <p:spPr>
          <a:xfrm>
            <a:off x="0" y="761998"/>
            <a:ext cx="3200400" cy="5334001"/>
          </a:xfrm>
          <a:prstGeom prst="rect">
            <a:avLst/>
          </a:prstGeom>
          <a:solidFill>
            <a:schemeClr val="tx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3722622" y="1298448"/>
            <a:ext cx="7187529" cy="2922551"/>
          </a:xfrm>
        </p:spPr>
        <p:txBody>
          <a:bodyPr rtlCol="0" anchor="b">
            <a:normAutofit/>
          </a:bodyPr>
          <a:lstStyle>
            <a:lvl1pPr algn="l">
              <a:defRPr sz="5900" spc="-100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3722622" y="4876090"/>
            <a:ext cx="7187529" cy="914400"/>
          </a:xfrm>
        </p:spPr>
        <p:txBody>
          <a:bodyPr rtlCol="0" anchor="ctr" anchorCtr="0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pt-BR" noProof="0"/>
              <a:t>Clique para editar o estilo de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2027A695-FB21-4262-95A7-7EDDDD7A1B72}" type="datetime1">
              <a:rPr lang="pt-BR" noProof="0" smtClean="0"/>
              <a:t>18/09/2026</a:t>
            </a:fld>
            <a:endParaRPr lang="pt-BR" noProof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  <a:p>
            <a:pPr rtl="0"/>
            <a:r>
              <a:rPr lang="pt-BR" noProof="0"/>
              <a:t> Adicionar um rodapé 	</a:t>
            </a:r>
          </a:p>
          <a:p>
            <a:pPr rtl="0"/>
            <a:endParaRPr lang="pt-BR" noProof="0"/>
          </a:p>
        </p:txBody>
      </p:sp>
      <p:sp>
        <p:nvSpPr>
          <p:cNvPr id="6" name="Espaço reservado para o número do slide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pt-BR" noProof="0" smtClean="0"/>
              <a:t>‹nº›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2254908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  <a:p>
            <a:pPr rtl="0"/>
            <a:r>
              <a:rPr lang="pt-BR" noProof="0"/>
              <a:t> Adicionar um rodapé 	</a:t>
            </a:r>
          </a:p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8" name="Espaço Reservado para Data 3">
            <a:extLst>
              <a:ext uri="{FF2B5EF4-FFF2-40B4-BE49-F238E27FC236}">
                <a16:creationId xmlns:a16="http://schemas.microsoft.com/office/drawing/2014/main" id="{5AA5E670-4D55-43E7-A5BE-FE9C80961E4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7AF88017-72C1-402A-A7F0-7235F685796A}" type="datetime1">
              <a:rPr lang="pt-BR" noProof="0" smtClean="0"/>
              <a:t>18/09/2026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40454864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_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  <a:p>
            <a:pPr rtl="0"/>
            <a:r>
              <a:rPr lang="pt-BR" noProof="0"/>
              <a:t> Adicionar um rodapé 	</a:t>
            </a:r>
          </a:p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52B1BB7-5686-45D5-B55F-9490788630D1}"/>
              </a:ext>
            </a:extLst>
          </p:cNvPr>
          <p:cNvSpPr/>
          <p:nvPr userDrawn="1"/>
        </p:nvSpPr>
        <p:spPr>
          <a:xfrm>
            <a:off x="-1" y="2526525"/>
            <a:ext cx="1170462" cy="3563377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3DCC77D-E83C-469F-89CD-6BA43360ABC8}"/>
              </a:ext>
            </a:extLst>
          </p:cNvPr>
          <p:cNvSpPr/>
          <p:nvPr userDrawn="1"/>
        </p:nvSpPr>
        <p:spPr>
          <a:xfrm>
            <a:off x="0" y="758952"/>
            <a:ext cx="10905976" cy="16593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26324FCD-DB02-475A-A176-06E8E5A51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974" y="868680"/>
            <a:ext cx="8590084" cy="1434906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9177FE1-3E6C-4964-8ECF-7A59B762B0E4}"/>
              </a:ext>
            </a:extLst>
          </p:cNvPr>
          <p:cNvSpPr/>
          <p:nvPr userDrawn="1"/>
        </p:nvSpPr>
        <p:spPr>
          <a:xfrm>
            <a:off x="11014533" y="759506"/>
            <a:ext cx="1170462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6428E5B-816F-4CA0-B9A7-CB6107D35533}"/>
              </a:ext>
            </a:extLst>
          </p:cNvPr>
          <p:cNvSpPr/>
          <p:nvPr userDrawn="1"/>
        </p:nvSpPr>
        <p:spPr>
          <a:xfrm>
            <a:off x="1287810" y="2526525"/>
            <a:ext cx="10905975" cy="3563377"/>
          </a:xfrm>
          <a:prstGeom prst="rect">
            <a:avLst/>
          </a:prstGeom>
          <a:solidFill>
            <a:schemeClr val="tx1">
              <a:alpha val="8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6" name="Espaço Reservado para Texto 2">
            <a:extLst>
              <a:ext uri="{FF2B5EF4-FFF2-40B4-BE49-F238E27FC236}">
                <a16:creationId xmlns:a16="http://schemas.microsoft.com/office/drawing/2014/main" id="{F0772FB0-32ED-4DB8-9F56-587A5BEF3F2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783974" y="2684770"/>
            <a:ext cx="9120216" cy="3304549"/>
          </a:xfrm>
        </p:spPr>
        <p:txBody>
          <a:bodyPr rtlCol="0" anchor="ctr" anchorCtr="0">
            <a:normAutofit/>
          </a:bodyPr>
          <a:lstStyle>
            <a:lvl1pPr marL="342900" indent="-342900">
              <a:buFont typeface="Arial" panose="020B0604020202020204" pitchFamily="34" charset="0"/>
              <a:buChar char="•"/>
              <a:defRPr sz="2200" cap="none" spc="0" baseline="0">
                <a:solidFill>
                  <a:schemeClr val="bg2"/>
                </a:solidFill>
              </a:defRPr>
            </a:lvl1pPr>
            <a:lvl2pPr marL="742950" indent="-285750">
              <a:buFont typeface="Arial" panose="020B0604020202020204" pitchFamily="34" charset="0"/>
              <a:buChar char="•"/>
              <a:defRPr sz="1800">
                <a:solidFill>
                  <a:schemeClr val="bg2"/>
                </a:solidFill>
              </a:defRPr>
            </a:lvl2pPr>
            <a:lvl3pPr marL="1200150" indent="-285750">
              <a:buFont typeface="Arial" panose="020B0604020202020204" pitchFamily="34" charset="0"/>
              <a:buChar char="•"/>
              <a:defRPr sz="1600">
                <a:solidFill>
                  <a:schemeClr val="bg2"/>
                </a:solidFill>
              </a:defRPr>
            </a:lvl3pPr>
            <a:lvl4pPr marL="1657350" indent="-285750"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</a:defRPr>
            </a:lvl4pPr>
            <a:lvl5pPr marL="2114550" indent="-285750">
              <a:buFont typeface="Arial" panose="020B0604020202020204" pitchFamily="34" charset="0"/>
              <a:buChar char="•"/>
              <a:defRPr sz="1400">
                <a:solidFill>
                  <a:schemeClr val="bg2"/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23" name="Espaço Reservado para Data 3">
            <a:extLst>
              <a:ext uri="{FF2B5EF4-FFF2-40B4-BE49-F238E27FC236}">
                <a16:creationId xmlns:a16="http://schemas.microsoft.com/office/drawing/2014/main" id="{4BB7DCFF-990A-4D13-AADC-AD1B3BAB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B0BD33F6-4D17-4C94-AB0B-40709746FD07}" type="datetime1">
              <a:rPr lang="pt-BR" noProof="0" smtClean="0"/>
              <a:t>18/09/2026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8324251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  <a:p>
            <a:pPr rtl="0"/>
            <a:r>
              <a:rPr lang="pt-BR" noProof="0"/>
              <a:t> Adicionar um rodapé 	</a:t>
            </a:r>
          </a:p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052B1BB7-5686-45D5-B55F-9490788630D1}"/>
              </a:ext>
            </a:extLst>
          </p:cNvPr>
          <p:cNvSpPr/>
          <p:nvPr userDrawn="1"/>
        </p:nvSpPr>
        <p:spPr>
          <a:xfrm>
            <a:off x="-1" y="2526525"/>
            <a:ext cx="1630838" cy="3563377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43DCC77D-E83C-469F-89CD-6BA43360ABC8}"/>
              </a:ext>
            </a:extLst>
          </p:cNvPr>
          <p:cNvSpPr/>
          <p:nvPr userDrawn="1"/>
        </p:nvSpPr>
        <p:spPr>
          <a:xfrm>
            <a:off x="0" y="758952"/>
            <a:ext cx="10905976" cy="1659371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3" name="Título 1">
            <a:extLst>
              <a:ext uri="{FF2B5EF4-FFF2-40B4-BE49-F238E27FC236}">
                <a16:creationId xmlns:a16="http://schemas.microsoft.com/office/drawing/2014/main" id="{26324FCD-DB02-475A-A176-06E8E5A517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3974" y="868680"/>
            <a:ext cx="8590084" cy="1434906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título Mestre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89177FE1-3E6C-4964-8ECF-7A59B762B0E4}"/>
              </a:ext>
            </a:extLst>
          </p:cNvPr>
          <p:cNvSpPr/>
          <p:nvPr userDrawn="1"/>
        </p:nvSpPr>
        <p:spPr>
          <a:xfrm>
            <a:off x="11014533" y="759506"/>
            <a:ext cx="1170462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C6428E5B-816F-4CA0-B9A7-CB6107D35533}"/>
              </a:ext>
            </a:extLst>
          </p:cNvPr>
          <p:cNvSpPr/>
          <p:nvPr userDrawn="1"/>
        </p:nvSpPr>
        <p:spPr>
          <a:xfrm>
            <a:off x="1630837" y="2526525"/>
            <a:ext cx="10574682" cy="3563377"/>
          </a:xfrm>
          <a:prstGeom prst="rect">
            <a:avLst/>
          </a:prstGeom>
          <a:solidFill>
            <a:schemeClr val="tx1">
              <a:alpha val="8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23" name="Espaço Reservado para Data 3">
            <a:extLst>
              <a:ext uri="{FF2B5EF4-FFF2-40B4-BE49-F238E27FC236}">
                <a16:creationId xmlns:a16="http://schemas.microsoft.com/office/drawing/2014/main" id="{4BB7DCFF-990A-4D13-AADC-AD1B3BABD33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8AFA474B-04F7-4ED9-AAD2-147627324A1B}" type="datetime1">
              <a:rPr lang="pt-BR" noProof="0" smtClean="0"/>
              <a:t>18/09/2026</a:t>
            </a:fld>
            <a:endParaRPr lang="pt-BR" noProof="0"/>
          </a:p>
        </p:txBody>
      </p:sp>
      <p:sp>
        <p:nvSpPr>
          <p:cNvPr id="15" name="Espaço Reservado para Texto 3">
            <a:extLst>
              <a:ext uri="{FF2B5EF4-FFF2-40B4-BE49-F238E27FC236}">
                <a16:creationId xmlns:a16="http://schemas.microsoft.com/office/drawing/2014/main" id="{465B3165-6F10-4D0F-9BC8-B4C451444D69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262466" y="2684770"/>
            <a:ext cx="1259814" cy="3304548"/>
          </a:xfrm>
        </p:spPr>
        <p:txBody>
          <a:bodyPr rtlCol="0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pt-BR" noProof="0"/>
              <a:t>Editar estilos de texto Mestre</a:t>
            </a:r>
          </a:p>
        </p:txBody>
      </p:sp>
      <p:sp>
        <p:nvSpPr>
          <p:cNvPr id="16" name="Espaço Reservado para Conteúdo 2">
            <a:extLst>
              <a:ext uri="{FF2B5EF4-FFF2-40B4-BE49-F238E27FC236}">
                <a16:creationId xmlns:a16="http://schemas.microsoft.com/office/drawing/2014/main" id="{C0EC084C-1181-4416-B55B-179995FCEE91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783974" y="2684770"/>
            <a:ext cx="9120217" cy="3304548"/>
          </a:xfrm>
        </p:spPr>
        <p:txBody>
          <a:bodyPr rtlCol="0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194867080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cons_Titl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  <a:p>
            <a:pPr rtl="0"/>
            <a:r>
              <a:rPr lang="pt-BR" noProof="0"/>
              <a:t> Adicionar um rodapé 	</a:t>
            </a:r>
          </a:p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5CCA687-AB7D-4035-849A-4D9F7C0401C1}"/>
              </a:ext>
            </a:extLst>
          </p:cNvPr>
          <p:cNvSpPr/>
          <p:nvPr userDrawn="1"/>
        </p:nvSpPr>
        <p:spPr>
          <a:xfrm>
            <a:off x="-1" y="2526525"/>
            <a:ext cx="3068514" cy="35633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5B57C12-8635-490F-AC5E-880EE5EFB9F2}"/>
              </a:ext>
            </a:extLst>
          </p:cNvPr>
          <p:cNvSpPr/>
          <p:nvPr userDrawn="1"/>
        </p:nvSpPr>
        <p:spPr>
          <a:xfrm>
            <a:off x="3200401" y="2526525"/>
            <a:ext cx="8481645" cy="3563377"/>
          </a:xfrm>
          <a:prstGeom prst="rect">
            <a:avLst/>
          </a:prstGeom>
          <a:solidFill>
            <a:schemeClr val="tx1">
              <a:alpha val="8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BF4D011-4812-426A-AF72-052AC843FFB5}"/>
              </a:ext>
            </a:extLst>
          </p:cNvPr>
          <p:cNvSpPr/>
          <p:nvPr userDrawn="1"/>
        </p:nvSpPr>
        <p:spPr>
          <a:xfrm>
            <a:off x="0" y="758952"/>
            <a:ext cx="3068515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5933F083-BCA0-42F4-BB66-81AD5A4DA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9954" y="2637691"/>
            <a:ext cx="2431210" cy="334705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40193E2-84B1-4994-8F97-4A2EBCE6D1A5}"/>
              </a:ext>
            </a:extLst>
          </p:cNvPr>
          <p:cNvSpPr/>
          <p:nvPr userDrawn="1"/>
        </p:nvSpPr>
        <p:spPr>
          <a:xfrm>
            <a:off x="11815866" y="2526524"/>
            <a:ext cx="376134" cy="3567951"/>
          </a:xfrm>
          <a:prstGeom prst="rect">
            <a:avLst/>
          </a:prstGeom>
          <a:solidFill>
            <a:schemeClr val="tx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569071-305C-4C40-87F4-0EE8553B66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597275" y="2638425"/>
            <a:ext cx="8091488" cy="3346450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7" name="Espaço Reservado para Data 3">
            <a:extLst>
              <a:ext uri="{FF2B5EF4-FFF2-40B4-BE49-F238E27FC236}">
                <a16:creationId xmlns:a16="http://schemas.microsoft.com/office/drawing/2014/main" id="{C8501626-512F-4A26-9857-5FC55FC399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5E94A7A8-12FD-4062-AA2F-C6F646D24359}" type="datetime1">
              <a:rPr lang="pt-BR" noProof="0" smtClean="0"/>
              <a:t>18/09/2026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1801030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tens de título à direi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pt-BR" noProof="0"/>
          </a:p>
          <a:p>
            <a:pPr rtl="0"/>
            <a:r>
              <a:rPr lang="pt-BR" noProof="0"/>
              <a:t> Adicionar um rodapé 	</a:t>
            </a:r>
          </a:p>
          <a:p>
            <a:pPr rtl="0"/>
            <a:endParaRPr lang="pt-BR" noProof="0"/>
          </a:p>
        </p:txBody>
      </p:sp>
      <p:sp>
        <p:nvSpPr>
          <p:cNvPr id="7" name="Espaço reservado para o número do slide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2F5601C1-348E-4149-A60A-012B14EBE97F}" type="slidenum">
              <a:rPr lang="pt-BR" noProof="0" smtClean="0"/>
              <a:t>‹nº›</a:t>
            </a:fld>
            <a:endParaRPr lang="pt-BR" noProof="0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5B57C12-8635-490F-AC5E-880EE5EFB9F2}"/>
              </a:ext>
            </a:extLst>
          </p:cNvPr>
          <p:cNvSpPr/>
          <p:nvPr userDrawn="1"/>
        </p:nvSpPr>
        <p:spPr>
          <a:xfrm>
            <a:off x="527125" y="2524913"/>
            <a:ext cx="8481645" cy="3563377"/>
          </a:xfrm>
          <a:prstGeom prst="rect">
            <a:avLst/>
          </a:prstGeom>
          <a:solidFill>
            <a:schemeClr val="tx1">
              <a:alpha val="8470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5CCA687-AB7D-4035-849A-4D9F7C0401C1}"/>
              </a:ext>
            </a:extLst>
          </p:cNvPr>
          <p:cNvSpPr/>
          <p:nvPr userDrawn="1"/>
        </p:nvSpPr>
        <p:spPr>
          <a:xfrm>
            <a:off x="9118064" y="2524912"/>
            <a:ext cx="3068514" cy="3563377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BF4D011-4812-426A-AF72-052AC843FFB5}"/>
              </a:ext>
            </a:extLst>
          </p:cNvPr>
          <p:cNvSpPr/>
          <p:nvPr userDrawn="1"/>
        </p:nvSpPr>
        <p:spPr>
          <a:xfrm>
            <a:off x="9118063" y="765851"/>
            <a:ext cx="3068515" cy="1659371"/>
          </a:xfrm>
          <a:prstGeom prst="rect">
            <a:avLst/>
          </a:prstGeom>
          <a:solidFill>
            <a:schemeClr val="accent5">
              <a:alpha val="60000"/>
            </a:schemeClr>
          </a:solidFill>
          <a:ln>
            <a:noFill/>
          </a:ln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12" name="Título 1">
            <a:extLst>
              <a:ext uri="{FF2B5EF4-FFF2-40B4-BE49-F238E27FC236}">
                <a16:creationId xmlns:a16="http://schemas.microsoft.com/office/drawing/2014/main" id="{5933F083-BCA0-42F4-BB66-81AD5A4DAF5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9425958" y="2641544"/>
            <a:ext cx="2431210" cy="3347055"/>
          </a:xfrm>
        </p:spPr>
        <p:txBody>
          <a:bodyPr rtlCol="0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rtl="0"/>
            <a:r>
              <a:rPr lang="pt-BR" noProof="0"/>
              <a:t>Clique para editar o estilo de título Mestre</a:t>
            </a:r>
          </a:p>
        </p:txBody>
      </p:sp>
      <p:sp>
        <p:nvSpPr>
          <p:cNvPr id="14" name="Retângulo 13">
            <a:extLst>
              <a:ext uri="{FF2B5EF4-FFF2-40B4-BE49-F238E27FC236}">
                <a16:creationId xmlns:a16="http://schemas.microsoft.com/office/drawing/2014/main" id="{A40193E2-84B1-4994-8F97-4A2EBCE6D1A5}"/>
              </a:ext>
            </a:extLst>
          </p:cNvPr>
          <p:cNvSpPr/>
          <p:nvPr userDrawn="1"/>
        </p:nvSpPr>
        <p:spPr>
          <a:xfrm>
            <a:off x="15348" y="2531097"/>
            <a:ext cx="376134" cy="3567951"/>
          </a:xfrm>
          <a:prstGeom prst="rect">
            <a:avLst/>
          </a:prstGeom>
          <a:solidFill>
            <a:schemeClr val="bg1"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pt-BR" noProof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A3569071-305C-4C40-87F4-0EE8553B66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722203" y="2633375"/>
            <a:ext cx="8091488" cy="3346450"/>
          </a:xfrm>
        </p:spPr>
        <p:txBody>
          <a:bodyPr rtlCol="0"/>
          <a:lstStyle>
            <a:lvl1pPr>
              <a:defRPr>
                <a:solidFill>
                  <a:schemeClr val="bg2"/>
                </a:solidFill>
              </a:defRPr>
            </a:lvl1pPr>
            <a:lvl2pPr>
              <a:defRPr>
                <a:solidFill>
                  <a:schemeClr val="bg2"/>
                </a:solidFill>
              </a:defRPr>
            </a:lvl2pPr>
            <a:lvl3pPr>
              <a:defRPr>
                <a:solidFill>
                  <a:schemeClr val="bg2"/>
                </a:solidFill>
              </a:defRPr>
            </a:lvl3pPr>
            <a:lvl4pPr>
              <a:defRPr>
                <a:solidFill>
                  <a:schemeClr val="bg2"/>
                </a:solidFill>
              </a:defRPr>
            </a:lvl4pPr>
            <a:lvl5pPr>
              <a:defRPr>
                <a:solidFill>
                  <a:schemeClr val="bg2"/>
                </a:solidFill>
              </a:defRPr>
            </a:lvl5pPr>
          </a:lstStyle>
          <a:p>
            <a:pPr lvl="0" rtl="0"/>
            <a:r>
              <a:rPr lang="pt-BR" noProof="0"/>
              <a:t>Editar estilos de texto Mestre</a:t>
            </a:r>
          </a:p>
          <a:p>
            <a:pPr lvl="1" rtl="0"/>
            <a:r>
              <a:rPr lang="pt-BR" noProof="0"/>
              <a:t>Segundo nível</a:t>
            </a:r>
          </a:p>
          <a:p>
            <a:pPr lvl="2" rtl="0"/>
            <a:r>
              <a:rPr lang="pt-BR" noProof="0"/>
              <a:t>Terceiro nível</a:t>
            </a:r>
          </a:p>
          <a:p>
            <a:pPr lvl="3" rtl="0"/>
            <a:r>
              <a:rPr lang="pt-BR" noProof="0"/>
              <a:t>Quarto nível</a:t>
            </a:r>
          </a:p>
          <a:p>
            <a:pPr lvl="4" rtl="0"/>
            <a:r>
              <a:rPr lang="pt-BR" noProof="0"/>
              <a:t>Quinto nível</a:t>
            </a:r>
          </a:p>
        </p:txBody>
      </p:sp>
      <p:sp>
        <p:nvSpPr>
          <p:cNvPr id="17" name="Espaço Reservado para Data 3">
            <a:extLst>
              <a:ext uri="{FF2B5EF4-FFF2-40B4-BE49-F238E27FC236}">
                <a16:creationId xmlns:a16="http://schemas.microsoft.com/office/drawing/2014/main" id="{C8501626-512F-4A26-9857-5FC55FC399B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62465" y="6356350"/>
            <a:ext cx="2743200" cy="365125"/>
          </a:xfrm>
        </p:spPr>
        <p:txBody>
          <a:bodyPr rtlCol="0"/>
          <a:lstStyle/>
          <a:p>
            <a:pPr rtl="0"/>
            <a:fld id="{16394F94-D8C0-4CEF-80E4-5540980881C9}" type="datetime1">
              <a:rPr lang="pt-BR" noProof="0" smtClean="0"/>
              <a:t>18/09/2026</a:t>
            </a:fld>
            <a:endParaRPr lang="pt-BR" noProof="0"/>
          </a:p>
        </p:txBody>
      </p:sp>
    </p:spTree>
    <p:extLst>
      <p:ext uri="{BB962C8B-B14F-4D97-AF65-F5344CB8AC3E}">
        <p14:creationId xmlns:p14="http://schemas.microsoft.com/office/powerpoint/2010/main" val="9274518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0" y="6071088"/>
            <a:ext cx="12191999" cy="786908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089144" y="2158949"/>
            <a:ext cx="2013711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903858" y="1368044"/>
            <a:ext cx="10384282" cy="274764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Img1" Type="http://schemas.openxmlformats.org/officeDocument/2006/relationships/image" Target="../media/lavbox_lavador.png"/><Relationship Id="rIdImg2" Type="http://schemas.openxmlformats.org/officeDocument/2006/relationships/image" Target="../media/lavbox_codigo_qr.png"/><Relationship Id="rIdImg3" Type="http://schemas.openxmlformats.org/officeDocument/2006/relationships/image" Target="../media/lavbox_admin.png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64D77CD-76C1-896C-19AB-23326EB8A8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4039" y="2257961"/>
            <a:ext cx="5323921" cy="2708434"/>
          </a:xfrm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pt-BR" sz="2800" b="1" dirty="0">
                <a:latin typeface="+mn-lt"/>
                <a:ea typeface="Aptos" panose="020B0004020202020204" pitchFamily="34" charset="0"/>
              </a:rPr>
              <a:t>6º SENAC INNOVADAY</a:t>
            </a:r>
            <a:endParaRPr lang="pt-BR" sz="2800" b="1" dirty="0">
              <a:effectLst/>
              <a:latin typeface="+mn-lt"/>
              <a:ea typeface="Aptos" panose="020B0004020202020204" pitchFamily="34" charset="0"/>
            </a:endParaRPr>
          </a:p>
          <a:p>
            <a:pPr algn="ctr"/>
            <a:r>
              <a:rPr lang="pt-BR" sz="2400" dirty="0">
                <a:latin typeface="+mn-lt"/>
                <a:ea typeface="Calibri"/>
              </a:rPr>
              <a:t>02/10/2026</a:t>
            </a:r>
            <a:endParaRPr lang="pt-BR" sz="2800" b="1" dirty="0">
              <a:latin typeface="+mn-lt"/>
              <a:ea typeface="Calibri"/>
            </a:endParaRPr>
          </a:p>
          <a:p>
            <a:pPr algn="ctr"/>
            <a:endParaRPr lang="pt-BR" sz="2400" dirty="0">
              <a:solidFill>
                <a:srgbClr val="000000"/>
              </a:solidFill>
              <a:ea typeface="Calibri"/>
            </a:endParaRPr>
          </a:p>
          <a:p>
            <a:pPr algn="ctr"/>
            <a:r>
              <a:rPr lang="pt-BR" sz="4800" b="1" dirty="0">
                <a:solidFill>
                  <a:srgbClr val="004A91"/>
                </a:solidFill>
                <a:latin typeface="Poppins"/>
                <a:ea typeface="Calibri"/>
                <a:cs typeface="Poppins"/>
              </a:rPr>
              <a:t>LAVBOX</a:t>
            </a:r>
            <a:endParaRPr lang="pt-BR" dirty="0"/>
          </a:p>
          <a:p>
            <a:pPr algn="ctr"/>
            <a:endParaRPr lang="pt-BR" sz="2400" dirty="0">
              <a:ea typeface="Calibri"/>
            </a:endParaRPr>
          </a:p>
        </p:txBody>
      </p:sp>
      <p:pic>
        <p:nvPicPr>
          <p:cNvPr id="1030" name="Picture 6">
            <a:extLst>
              <a:ext uri="{FF2B5EF4-FFF2-40B4-BE49-F238E27FC236}">
                <a16:creationId xmlns:a16="http://schemas.microsoft.com/office/drawing/2014/main" id="{D989F258-531F-8EAB-55F9-9DA3167269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63204" y="251741"/>
            <a:ext cx="1457882" cy="8550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Espaço Reservado para Texto 2">
            <a:extLst>
              <a:ext uri="{FF2B5EF4-FFF2-40B4-BE49-F238E27FC236}">
                <a16:creationId xmlns:a16="http://schemas.microsoft.com/office/drawing/2014/main" id="{B29AF384-76C7-4547-50EA-7C1A33E2E1B5}"/>
              </a:ext>
            </a:extLst>
          </p:cNvPr>
          <p:cNvSpPr txBox="1">
            <a:spLocks/>
          </p:cNvSpPr>
          <p:nvPr/>
        </p:nvSpPr>
        <p:spPr>
          <a:xfrm>
            <a:off x="3611890" y="1360715"/>
            <a:ext cx="4348080" cy="49244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>
              <a:defRPr sz="1800" b="0" i="0">
                <a:solidFill>
                  <a:schemeClr val="tx1"/>
                </a:solidFill>
                <a:latin typeface="Calibri"/>
                <a:ea typeface="+mn-ea"/>
                <a:cs typeface="Calibri"/>
              </a:defRPr>
            </a:lvl1pPr>
            <a:lvl2pPr marL="457200">
              <a:defRPr>
                <a:latin typeface="+mn-lt"/>
                <a:ea typeface="+mn-ea"/>
                <a:cs typeface="+mn-cs"/>
              </a:defRPr>
            </a:lvl2pPr>
            <a:lvl3pPr marL="914400">
              <a:defRPr>
                <a:latin typeface="+mn-lt"/>
                <a:ea typeface="+mn-ea"/>
                <a:cs typeface="+mn-cs"/>
              </a:defRPr>
            </a:lvl3pPr>
            <a:lvl4pPr marL="1371600">
              <a:defRPr>
                <a:latin typeface="+mn-lt"/>
                <a:ea typeface="+mn-ea"/>
                <a:cs typeface="+mn-cs"/>
              </a:defRPr>
            </a:lvl4pPr>
            <a:lvl5pPr marL="1828800">
              <a:defRPr>
                <a:latin typeface="+mn-lt"/>
                <a:ea typeface="+mn-ea"/>
                <a:cs typeface="+mn-cs"/>
              </a:defRPr>
            </a:lvl5pPr>
            <a:lvl6pPr marL="2286000">
              <a:defRPr>
                <a:latin typeface="+mn-lt"/>
                <a:ea typeface="+mn-ea"/>
                <a:cs typeface="+mn-cs"/>
              </a:defRPr>
            </a:lvl6pPr>
            <a:lvl7pPr marL="2743200">
              <a:defRPr>
                <a:latin typeface="+mn-lt"/>
                <a:ea typeface="+mn-ea"/>
                <a:cs typeface="+mn-cs"/>
              </a:defRPr>
            </a:lvl7pPr>
            <a:lvl8pPr marL="3200400">
              <a:defRPr>
                <a:latin typeface="+mn-lt"/>
                <a:ea typeface="+mn-ea"/>
                <a:cs typeface="+mn-cs"/>
              </a:defRPr>
            </a:lvl8pPr>
            <a:lvl9pPr marL="3657600">
              <a:defRPr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b="1" kern="0">
                <a:latin typeface="+mn-lt"/>
                <a:ea typeface="Aptos" panose="020B0004020202020204" pitchFamily="34" charset="0"/>
              </a:rPr>
              <a:t>Diretoria de Educação Profissional</a:t>
            </a:r>
          </a:p>
          <a:p>
            <a:pPr algn="ctr"/>
            <a:r>
              <a:rPr lang="pt-BR" sz="1600" kern="0">
                <a:latin typeface="+mn-lt"/>
              </a:rPr>
              <a:t> Faculdade de Tecnologia e Inovação Senac-DF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61A253D-D8FF-F0B5-4563-70BBF5ECDCD2}"/>
              </a:ext>
            </a:extLst>
          </p:cNvPr>
          <p:cNvSpPr txBox="1"/>
          <p:nvPr/>
        </p:nvSpPr>
        <p:spPr>
          <a:xfrm>
            <a:off x="5038287" y="5823411"/>
            <a:ext cx="1810625" cy="36933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r>
              <a:rPr lang="pt-BR" b="1">
                <a:ea typeface="Calibri"/>
              </a:rPr>
              <a:t>Brasília</a:t>
            </a:r>
            <a:r>
              <a:rPr lang="pt-BR" b="1">
                <a:ea typeface="Aptos" panose="020B0004020202020204" pitchFamily="34" charset="0"/>
              </a:rPr>
              <a:t> 2026</a:t>
            </a:r>
            <a:endParaRPr lang="pt-BR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970087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000" y="300000"/>
            <a:ext cx="10670000" cy="700000"/>
          </a:xfrm>
        </p:spPr>
        <p:txBody>
          <a:bodyPr/>
          <a:lstStyle/>
          <a:p>
            <a:r>
              <a:rPr lang="pt-BR" sz="4000" b="1"/>
              <a:t>Nosso Time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760000" y="1450000"/>
            <a:ext cx="10384282" cy="2769989"/>
          </a:xfrm>
        </p:spPr>
        <p:txBody>
          <a:bodyPr wrap="square" lIns="0" tIns="0" rIns="0" bIns="0" anchor="t">
            <a:spAutoFit/>
          </a:bodyPr>
          <a:lstStyle/>
          <a:p>
            <a:r>
              <a:rPr lang="pt-BR" sz="3600" dirty="0"/>
              <a:t>Rodrigo Andrade da Ponte </a:t>
            </a:r>
          </a:p>
          <a:p>
            <a:r>
              <a:rPr lang="pt-BR" sz="3600" dirty="0"/>
              <a:t>Izabel Cristina Alves de Oliveira </a:t>
            </a:r>
          </a:p>
          <a:p>
            <a:r>
              <a:rPr lang="pt-BR" sz="3600" dirty="0"/>
              <a:t>Magno Guimaraes da Silva  </a:t>
            </a:r>
          </a:p>
          <a:p>
            <a:r>
              <a:rPr lang="pt-BR" sz="3600" dirty="0"/>
              <a:t>Diego Rodrigo dos Santos Machado</a:t>
            </a:r>
          </a:p>
          <a:p>
            <a:endParaRPr lang="pt-BR" sz="3600" dirty="0"/>
          </a:p>
          <a:p>
            <a:r>
              <a:rPr lang="pt-BR" sz="3600" dirty="0"/>
              <a:t>Orientador: Jean Lima</a:t>
            </a:r>
            <a:endParaRPr lang="pt-BR" sz="3600" dirty="0">
              <a:ea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76DEB-2668-D4FD-D994-671DBA3E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000" y="300000"/>
            <a:ext cx="10670000" cy="700000"/>
          </a:xfr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4000" b="1"/>
              <a:t>Considerações iniciais</a:t>
            </a:r>
          </a:p>
        </p:txBody>
      </p:sp>
      <p:sp>
        <p:nvSpPr>
          <p:cNvPr id="101" name="Forma 101"/>
          <p:cNvSpPr/>
          <p:nvPr/>
        </p:nvSpPr>
        <p:spPr>
          <a:xfrm>
            <a:off x="760000" y="1250000"/>
            <a:ext cx="10670000" cy="4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just" marL="0" indent="0">
              <a:buNone/>
            </a:pPr>
            <a:r>
              <a:rPr lang="pt-BR" sz="2200" dirty="0">
                <a:solidFill>
                  <a:srgbClr val="1F2937"/>
                </a:solidFill>
                <a:latin typeface="+mn-lt"/>
              </a:rPr>
              <a:t>A LAVBOX surge para revolucionar o mercado de estética automotiva ao solucionar a ineficiência e a perda de tempo dos lava-jatos tradicionais. Atuando como uma plataforma de serviços in loco (home/office care), a empresa elimina o stress de deslocamento e filas de espera unindo máxima conveniência logística a uma rigorosa customização técnica. Através do nosso sistema, o cliente assume o controle total da experiência, podendo definir o pacote de serviços, especificar os produtos de limpeza que serão aplicados, agendar a janela de horário ideal e marcar no mapa o ponto exato do atendimento, transformando a manutenção do veículo em um processo prático, seguro e totalmente sob medida.</a:t>
            </a:r>
          </a:p>
        </p:txBody>
      </p:sp>
    </p:spTree>
    <p:extLst>
      <p:ext uri="{BB962C8B-B14F-4D97-AF65-F5344CB8AC3E}">
        <p14:creationId xmlns:p14="http://schemas.microsoft.com/office/powerpoint/2010/main" val="18537307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000" y="300000"/>
            <a:ext cx="10670000" cy="700000"/>
          </a:xfr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3800" b="1"/>
              <a:t>Dados do Problema Identificado</a:t>
            </a:r>
          </a:p>
        </p:txBody>
      </p:sp>
      <p:sp>
        <p:nvSpPr>
          <p:cNvPr id="102" name="Forma 102"/>
          <p:cNvSpPr/>
          <p:nvPr/>
        </p:nvSpPr>
        <p:spPr>
          <a:xfrm>
            <a:off x="760000" y="1250000"/>
            <a:ext cx="10670000" cy="4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just" marL="0" indent="0">
              <a:buNone/>
            </a:pPr>
            <a:r>
              <a:rPr lang="pt-BR" sz="2200" dirty="0">
                <a:solidFill>
                  <a:srgbClr val="1F2937"/>
                </a:solidFill>
                <a:latin typeface="+mn-lt"/>
              </a:rPr>
              <a:t>O projeto LAVBOX soluciona as principais ineficiências do mercado tradicional de estética automotiva, marcado pelo desperdício de horas úteis do cliente com deslocamentos no trânsito e ociosidade em filas de espera. Além do atrito logístico gerado pela inflexibilidade de horários e locais, o modelo convencional impõe uma rotina engessada e peca pela ausência de padronização no atendimento, agravada pela falta de transparência e pela impossibilidade de o consumidor controlar a qualidade dos produtos de limpeza automotiva aplicados em seu veículo.</a:t>
            </a: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E60459D-02F2-D0D4-6A42-10C69972A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8762DD4-8AA8-A883-4D4F-929862A5B4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765C363-F435-C0A3-ACAD-8C4E9615435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47553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430FFB-926D-DC9F-A1AE-84BD1394C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000" y="300000"/>
            <a:ext cx="10670000" cy="700000"/>
          </a:xfr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4000" b="1"/>
              <a:t>Dados do Projeto</a:t>
            </a:r>
          </a:p>
        </p:txBody>
      </p:sp>
      <p:sp>
        <p:nvSpPr>
          <p:cNvPr id="143" name="Forma 143"/>
          <p:cNvSpPr/>
          <p:nvPr/>
        </p:nvSpPr>
        <p:spPr>
          <a:xfrm>
            <a:off x="760000" y="1150000"/>
            <a:ext cx="5200000" cy="235000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2700">
            <a:solidFill>
              <a:srgbClr val="004A91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2000" b="1" dirty="0">
                <a:solidFill>
                  <a:srgbClr val="004A91"/>
                </a:solidFill>
                <a:latin typeface="+mn-lt"/>
              </a:rPr>
              <a:t>Inovação de processo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lang="pt-BR" sz="1800" dirty="0">
                <a:solidFill>
                  <a:srgbClr val="1F2937"/>
                </a:solidFill>
                <a:latin typeface="+mn-lt"/>
              </a:rPr>
              <a:t>Digitaliza e mede todo o ciclo: pedido, despacho, execução comprovada, pagamento e avaliação.</a:t>
            </a:r>
          </a:p>
        </p:txBody>
      </p:sp>
      <p:sp>
        <p:nvSpPr>
          <p:cNvPr id="144" name="Forma 144"/>
          <p:cNvSpPr/>
          <p:nvPr/>
        </p:nvSpPr>
        <p:spPr>
          <a:xfrm>
            <a:off x="6230000" y="1150000"/>
            <a:ext cx="5200000" cy="235000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2700">
            <a:solidFill>
              <a:srgbClr val="004A91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2000" b="1" dirty="0">
                <a:solidFill>
                  <a:srgbClr val="004A91"/>
                </a:solidFill>
                <a:latin typeface="+mn-lt"/>
              </a:rPr>
              <a:t>Três perfis, um aplicativo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lang="pt-BR" sz="1800" dirty="0">
                <a:solidFill>
                  <a:srgbClr val="1F2937"/>
                </a:solidFill>
                <a:latin typeface="+mn-lt"/>
              </a:rPr>
              <a:t>Cliente pede e acompanha. Prestador aceita, executa e segue o roteiro do dia. Administrador acompanha os indicadores.</a:t>
            </a:r>
          </a:p>
        </p:txBody>
      </p:sp>
      <p:sp>
        <p:nvSpPr>
          <p:cNvPr id="145" name="Forma 145"/>
          <p:cNvSpPr/>
          <p:nvPr/>
        </p:nvSpPr>
        <p:spPr>
          <a:xfrm>
            <a:off x="760000" y="3750000"/>
            <a:ext cx="5200000" cy="235000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2700">
            <a:solidFill>
              <a:srgbClr val="004A91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2000" b="1" dirty="0">
                <a:solidFill>
                  <a:srgbClr val="004A91"/>
                </a:solidFill>
                <a:latin typeface="+mn-lt"/>
              </a:rPr>
              <a:t>Objetivos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lang="pt-BR" sz="1800" dirty="0">
                <a:solidFill>
                  <a:srgbClr val="1F2937"/>
                </a:solidFill>
                <a:latin typeface="+mn-lt"/>
              </a:rPr>
              <a:t>Serviço no local escolhido, com preço e duração informados antes; acompanhamento ao vivo; início comprovado por código ou QR; avaliação do serviço.</a:t>
            </a:r>
          </a:p>
        </p:txBody>
      </p:sp>
      <p:sp>
        <p:nvSpPr>
          <p:cNvPr id="146" name="Forma 146"/>
          <p:cNvSpPr/>
          <p:nvPr/>
        </p:nvSpPr>
        <p:spPr>
          <a:xfrm>
            <a:off x="6230000" y="3750000"/>
            <a:ext cx="5200000" cy="235000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2700">
            <a:solidFill>
              <a:srgbClr val="004A91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2000" b="1" dirty="0">
                <a:solidFill>
                  <a:srgbClr val="004A91"/>
                </a:solidFill>
                <a:latin typeface="+mn-lt"/>
              </a:rPr>
              <a:t>Diferenciais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lang="pt-BR" sz="1800" dirty="0">
                <a:solidFill>
                  <a:srgbClr val="1F2937"/>
                </a:solidFill>
                <a:latin typeface="+mn-lt"/>
              </a:rPr>
              <a:t>Serviço personalizável; EcoWash com economia de água medida; rota otimizada do prestador; segurança e LGPD desde a concepção.</a:t>
            </a:r>
          </a:p>
        </p:txBody>
      </p:sp>
    </p:spTree>
    <p:extLst>
      <p:ext uri="{BB962C8B-B14F-4D97-AF65-F5344CB8AC3E}">
        <p14:creationId xmlns:p14="http://schemas.microsoft.com/office/powerpoint/2010/main" val="144257590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000" y="300000"/>
            <a:ext cx="10670000" cy="700000"/>
          </a:xfr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4000" b="1"/>
              <a:t>Nossa Solução</a:t>
            </a:r>
          </a:p>
        </p:txBody>
      </p:sp>
      <p:sp>
        <p:nvSpPr>
          <p:cNvPr id="147" name="Forma 147"/>
          <p:cNvSpPr/>
          <p:nvPr/>
        </p:nvSpPr>
        <p:spPr>
          <a:xfrm>
            <a:off x="760000" y="1100000"/>
            <a:ext cx="10670000" cy="9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</a:pPr>
            <a:r>
              <a:rPr lang="pt-BR" sz="1700" dirty="0">
                <a:solidFill>
                  <a:srgbClr val="1F2937"/>
                </a:solidFill>
                <a:latin typeface="+mn-lt"/>
              </a:rPr>
              <a:t>Um sistema que transforma a manutenção do veículo em um fluxo otimizado, do primeiro acesso à avaliação do atendimento.</a:t>
            </a:r>
          </a:p>
        </p:txBody>
      </p:sp>
      <p:sp>
        <p:nvSpPr>
          <p:cNvPr id="148" name="Forma 148"/>
          <p:cNvSpPr/>
          <p:nvPr/>
        </p:nvSpPr>
        <p:spPr>
          <a:xfrm>
            <a:off x="760000" y="2000000"/>
            <a:ext cx="5200000" cy="405000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2700">
            <a:solidFill>
              <a:srgbClr val="004A91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1800" b="1" dirty="0">
                <a:solidFill>
                  <a:srgbClr val="004A91"/>
                </a:solidFill>
                <a:latin typeface="+mn-lt"/>
              </a:rPr>
              <a:t>O que já foi feito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lang="pt-BR" sz="1500" dirty="0">
                <a:solidFill>
                  <a:srgbClr val="1F2937"/>
                </a:solidFill>
                <a:latin typeface="+mn-lt"/>
              </a:rPr>
              <a:t>Mapeamento do Product Backlog e protótipo navegável de alta fidelidade (12 passos)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lang="pt-BR" sz="1500" dirty="0">
                <a:solidFill>
                  <a:srgbClr val="1F2937"/>
                </a:solidFill>
                <a:latin typeface="+mn-lt"/>
              </a:rPr>
              <a:t>Aplicativo web instalável funcionando, com banco de dados real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lang="pt-BR" sz="1500" dirty="0">
                <a:solidFill>
                  <a:srgbClr val="1F2937"/>
                </a:solidFill>
                <a:latin typeface="+mn-lt"/>
              </a:rPr>
              <a:t>Cadastro de clientes e lavadores, pedido, acompanhamento em tempo real e mapa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lang="pt-BR" sz="1500" dirty="0">
                <a:solidFill>
                  <a:srgbClr val="1F2937"/>
                </a:solidFill>
                <a:latin typeface="+mn-lt"/>
              </a:rPr>
              <a:t>Código de 6 dígitos ou QR para comprovar o início; rota otimizada do prestador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lang="pt-BR" sz="1500" dirty="0">
                <a:solidFill>
                  <a:srgbClr val="1F2937"/>
                </a:solidFill>
                <a:latin typeface="+mn-lt"/>
              </a:rPr>
              <a:t>Avaliação e painel do administrador com indicadores</a:t>
            </a:r>
          </a:p>
        </p:txBody>
      </p:sp>
      <p:sp>
        <p:nvSpPr>
          <p:cNvPr id="149" name="Forma 149"/>
          <p:cNvSpPr/>
          <p:nvPr/>
        </p:nvSpPr>
        <p:spPr>
          <a:xfrm>
            <a:off x="6230000" y="2000000"/>
            <a:ext cx="5200000" cy="4050000"/>
          </a:xfrm>
          <a:prstGeom prst="roundRect">
            <a:avLst>
              <a:gd name="adj" fmla="val 6000"/>
            </a:avLst>
          </a:prstGeom>
          <a:solidFill>
            <a:srgbClr val="FFF1DC"/>
          </a:solidFill>
          <a:ln w="12700">
            <a:solidFill>
              <a:srgbClr val="F7941D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1800" b="1" dirty="0">
                <a:solidFill>
                  <a:srgbClr val="004A91"/>
                </a:solidFill>
                <a:latin typeface="+mn-lt"/>
              </a:rPr>
              <a:t>O que pretendemos desenvolver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lang="pt-BR" sz="1500" dirty="0">
                <a:solidFill>
                  <a:srgbClr val="1F2937"/>
                </a:solidFill>
                <a:latin typeface="+mn-lt"/>
              </a:rPr>
              <a:t>Pagamento real com gateway (PIX e cartão)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lang="pt-BR" sz="1500" dirty="0">
                <a:solidFill>
                  <a:srgbClr val="1F2937"/>
                </a:solidFill>
                <a:latin typeface="+mn-lt"/>
              </a:rPr>
              <a:t>GPS real e trânsito em tempo real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lang="pt-BR" sz="1500" dirty="0">
                <a:solidFill>
                  <a:srgbClr val="1F2937"/>
                </a:solidFill>
                <a:latin typeface="+mn-lt"/>
              </a:rPr>
              <a:t>Fotos antes e depois do serviço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lang="pt-BR" sz="1500" dirty="0">
                <a:solidFill>
                  <a:srgbClr val="1F2937"/>
                </a:solidFill>
                <a:latin typeface="+mn-lt"/>
              </a:rPr>
              <a:t>Controle de estoque com alerta de nível mínimo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lang="pt-BR" sz="1500" dirty="0">
                <a:solidFill>
                  <a:srgbClr val="1F2937"/>
                </a:solidFill>
                <a:latin typeface="+mn-lt"/>
              </a:rPr>
              <a:t>Fidelidade, assinaturas e área de Empresas (frotas)</a:t>
            </a:r>
          </a:p>
          <a:p>
            <a:pPr algn="l" marL="285750" indent="-285750">
              <a:spcAft>
                <a:spcPts val="400"/>
              </a:spcAft>
              <a:buFont typeface="Arial"/>
              <a:buChar char="•"/>
            </a:pPr>
            <a:r>
              <a:rPr lang="pt-BR" sz="1500" dirty="0">
                <a:solidFill>
                  <a:srgbClr val="1F2937"/>
                </a:solidFill>
                <a:latin typeface="+mn-lt"/>
              </a:rPr>
              <a:t>Previsão de demanda com inteligência artificial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76DEB-2668-D4FD-D994-671DBA3E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000" y="300000"/>
            <a:ext cx="10670000" cy="700000"/>
          </a:xfr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3800" b="1"/>
              <a:t>Do protótipo ao aplicativo</a:t>
            </a:r>
          </a:p>
        </p:txBody>
      </p:sp>
      <p:graphicFrame>
        <p:nvGraphicFramePr>
          <p:cNvPr id="103" name="Tabela 103"/>
          <p:cNvGraphicFramePr>
            <a:graphicFrameLocks noGrp="1"/>
          </p:cNvGraphicFramePr>
          <p:nvPr/>
        </p:nvGraphicFramePr>
        <p:xfrm>
          <a:off x="760000" y="1100000"/>
          <a:ext cx="10670000" cy="4530000"/>
        </p:xfrm>
        <a:graphic>
          <a:graphicData uri="http://schemas.openxmlformats.org/drawingml/2006/table">
            <a:tbl>
              <a:tblPr firstRow="1"/>
              <a:tblGrid>
                <a:gridCol w="4300000"/>
                <a:gridCol w="6370000"/>
              </a:tblGrid>
              <a:tr h="400000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+mn-lt"/>
                        </a:rPr>
                        <a:t>Protótipo (12 passos)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004A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FFFFFF"/>
                          </a:solidFill>
                          <a:latin typeface="+mn-lt"/>
                        </a:rPr>
                        <a:t>Aplicativo em funcionamento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004A91"/>
                    </a:solidFill>
                  </a:tcPr>
                </a:tc>
              </a:tr>
              <a:tr h="590000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1F2937"/>
                          </a:solidFill>
                          <a:latin typeface="+mn-lt"/>
                        </a:rPr>
                        <a:t>1 Acesso · 2 Cadastro/Login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1F2937"/>
                          </a:solidFill>
                          <a:latin typeface="+mn-lt"/>
                        </a:rPr>
                        <a:t>Entrar ou criar conta de cliente ou de lavador (com modo demonstração)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0000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1F2937"/>
                          </a:solidFill>
                          <a:latin typeface="+mn-lt"/>
                        </a:rPr>
                        <a:t>3 Veículo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1F2937"/>
                          </a:solidFill>
                          <a:latin typeface="+mn-lt"/>
                        </a:rPr>
                        <a:t>Tela 1 · tipo, modelo e cor do veículo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0000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1F2937"/>
                          </a:solidFill>
                          <a:latin typeface="+mn-lt"/>
                        </a:rPr>
                        <a:t>4 Tipo de lavagem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1F2937"/>
                          </a:solidFill>
                          <a:latin typeface="+mn-lt"/>
                        </a:rPr>
                        <a:t>Tela 2 · Básico, Completo, Premium e EcoWash (preço conforme o veículo)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0000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1F2937"/>
                          </a:solidFill>
                          <a:latin typeface="+mn-lt"/>
                        </a:rPr>
                        <a:t>5 Personalização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1F2937"/>
                          </a:solidFill>
                          <a:latin typeface="+mn-lt"/>
                        </a:rPr>
                        <a:t>Tela 3 · polimento, higienização, cristalização e enceramento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0000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1F2937"/>
                          </a:solidFill>
                          <a:latin typeface="+mn-lt"/>
                        </a:rPr>
                        <a:t>6 Localização · 7 Data/horário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1F2937"/>
                          </a:solidFill>
                          <a:latin typeface="+mn-lt"/>
                        </a:rPr>
                        <a:t>Tela 4 · pino no mapa, busca de endereço e horário (agora ou agendado)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0000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1F2937"/>
                          </a:solidFill>
                          <a:latin typeface="+mn-lt"/>
                        </a:rPr>
                        <a:t>8 Conferência · 9 Pagamento · 10 Confirmação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1F2937"/>
                          </a:solidFill>
                          <a:latin typeface="+mn-lt"/>
                        </a:rPr>
                        <a:t>Tela 5 · resumo do pedido e pagamento simulado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90000">
                <a:tc>
                  <a:txBody>
                    <a:bodyPr/>
                    <a:lstStyle/>
                    <a:p>
                      <a:pPr algn="l"/>
                      <a:r>
                        <a:rPr lang="pt-BR" sz="1400" b="1" dirty="0">
                          <a:solidFill>
                            <a:srgbClr val="1F2937"/>
                          </a:solidFill>
                          <a:latin typeface="+mn-lt"/>
                        </a:rPr>
                        <a:t>11 Acompanhamento · 12 Avaliação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400" dirty="0">
                          <a:solidFill>
                            <a:srgbClr val="1F2937"/>
                          </a:solidFill>
                          <a:latin typeface="+mn-lt"/>
                        </a:rPr>
                        <a:t>Tempo real (8 etapas, mapa, código/QR) e depois estrelas e comentário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3730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76DEB-2668-D4FD-D994-671DBA3E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000" y="300000"/>
            <a:ext cx="10670000" cy="700000"/>
          </a:xfr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3800" b="1"/>
              <a:t>Cliente e lavador em tempo real</a:t>
            </a:r>
          </a:p>
        </p:txBody>
      </p:sp>
      <p:sp>
        <p:nvSpPr>
          <p:cNvPr id="104" name="Forma 104"/>
          <p:cNvSpPr/>
          <p:nvPr/>
        </p:nvSpPr>
        <p:spPr>
          <a:xfrm>
            <a:off x="760000" y="1150000"/>
            <a:ext cx="2400000" cy="9000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04A91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l" marL="0" indent="0">
              <a:buNone/>
            </a:pPr>
            <a:r>
              <a:rPr lang="pt-BR" sz="1800" b="1" dirty="0">
                <a:solidFill>
                  <a:srgbClr val="F7941D"/>
                </a:solidFill>
                <a:latin typeface="+mn-lt"/>
              </a:rPr>
              <a:t>1  </a:t>
            </a:r>
            <a:r>
              <a:rPr lang="pt-BR" sz="1500" b="1" dirty="0">
                <a:solidFill>
                  <a:srgbClr val="004A91"/>
                </a:solidFill>
                <a:latin typeface="+mn-lt"/>
              </a:rPr>
              <a:t>Solicitação recebida</a:t>
            </a:r>
          </a:p>
          <a:p>
            <a:pPr algn="l" marL="0" indent="0">
              <a:buNone/>
            </a:pPr>
            <a:r>
              <a:rPr lang="pt-BR" sz="1200" dirty="0">
                <a:solidFill>
                  <a:srgbClr val="5B6B7F"/>
                </a:solidFill>
                <a:latin typeface="+mn-lt"/>
              </a:rPr>
              <a:t>cliente pede</a:t>
            </a:r>
          </a:p>
        </p:txBody>
      </p:sp>
      <p:cxnSp>
        <p:nvCxnSpPr>
          <p:cNvPr id="105" name="Seta 105"/>
          <p:cNvCxnSpPr/>
          <p:nvPr/>
        </p:nvCxnSpPr>
        <p:spPr>
          <a:xfrm>
            <a:off x="3180000" y="1600000"/>
            <a:ext cx="290000" cy="0"/>
          </a:xfrm>
          <a:prstGeom prst="straightConnector1">
            <a:avLst/>
          </a:prstGeom>
          <a:ln w="28575">
            <a:solidFill>
              <a:srgbClr val="004A91"/>
            </a:solidFill>
            <a:tailEnd type="triangle"/>
          </a:ln>
        </p:spPr>
      </p:cxnSp>
      <p:sp>
        <p:nvSpPr>
          <p:cNvPr id="106" name="Forma 106"/>
          <p:cNvSpPr/>
          <p:nvPr/>
        </p:nvSpPr>
        <p:spPr>
          <a:xfrm>
            <a:off x="3490000" y="1150000"/>
            <a:ext cx="2400000" cy="9000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04A91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l" marL="0" indent="0">
              <a:buNone/>
            </a:pPr>
            <a:r>
              <a:rPr lang="pt-BR" sz="1800" b="1" dirty="0">
                <a:solidFill>
                  <a:srgbClr val="F7941D"/>
                </a:solidFill>
                <a:latin typeface="+mn-lt"/>
              </a:rPr>
              <a:t>2  </a:t>
            </a:r>
            <a:r>
              <a:rPr lang="pt-BR" sz="1500" b="1" dirty="0">
                <a:solidFill>
                  <a:srgbClr val="004A91"/>
                </a:solidFill>
                <a:latin typeface="+mn-lt"/>
              </a:rPr>
              <a:t>Profissional confirmado</a:t>
            </a:r>
          </a:p>
          <a:p>
            <a:pPr algn="l" marL="0" indent="0">
              <a:buNone/>
            </a:pPr>
            <a:r>
              <a:rPr lang="pt-BR" sz="1200" dirty="0">
                <a:solidFill>
                  <a:srgbClr val="5B6B7F"/>
                </a:solidFill>
                <a:latin typeface="+mn-lt"/>
              </a:rPr>
              <a:t>lavador aceita</a:t>
            </a:r>
          </a:p>
        </p:txBody>
      </p:sp>
      <p:cxnSp>
        <p:nvCxnSpPr>
          <p:cNvPr id="107" name="Seta 107"/>
          <p:cNvCxnSpPr/>
          <p:nvPr/>
        </p:nvCxnSpPr>
        <p:spPr>
          <a:xfrm>
            <a:off x="5910000" y="1600000"/>
            <a:ext cx="290000" cy="0"/>
          </a:xfrm>
          <a:prstGeom prst="straightConnector1">
            <a:avLst/>
          </a:prstGeom>
          <a:ln w="28575">
            <a:solidFill>
              <a:srgbClr val="004A91"/>
            </a:solidFill>
            <a:tailEnd type="triangle"/>
          </a:ln>
        </p:spPr>
      </p:cxnSp>
      <p:sp>
        <p:nvSpPr>
          <p:cNvPr id="108" name="Forma 108"/>
          <p:cNvSpPr/>
          <p:nvPr/>
        </p:nvSpPr>
        <p:spPr>
          <a:xfrm>
            <a:off x="6220000" y="1150000"/>
            <a:ext cx="2400000" cy="9000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04A91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l" marL="0" indent="0">
              <a:buNone/>
            </a:pPr>
            <a:r>
              <a:rPr lang="pt-BR" sz="1800" b="1" dirty="0">
                <a:solidFill>
                  <a:srgbClr val="F7941D"/>
                </a:solidFill>
                <a:latin typeface="+mn-lt"/>
              </a:rPr>
              <a:t>3  </a:t>
            </a:r>
            <a:r>
              <a:rPr lang="pt-BR" sz="1500" b="1" dirty="0">
                <a:solidFill>
                  <a:srgbClr val="004A91"/>
                </a:solidFill>
                <a:latin typeface="+mn-lt"/>
              </a:rPr>
              <a:t>A caminho</a:t>
            </a:r>
          </a:p>
          <a:p>
            <a:pPr algn="l" marL="0" indent="0">
              <a:buNone/>
            </a:pPr>
            <a:r>
              <a:rPr lang="pt-BR" sz="1200" dirty="0">
                <a:solidFill>
                  <a:srgbClr val="5B6B7F"/>
                </a:solidFill>
                <a:latin typeface="+mn-lt"/>
              </a:rPr>
              <a:t>mapa e tempo estimado</a:t>
            </a:r>
          </a:p>
        </p:txBody>
      </p:sp>
      <p:cxnSp>
        <p:nvCxnSpPr>
          <p:cNvPr id="109" name="Seta 109"/>
          <p:cNvCxnSpPr/>
          <p:nvPr/>
        </p:nvCxnSpPr>
        <p:spPr>
          <a:xfrm>
            <a:off x="8640000" y="1600000"/>
            <a:ext cx="290000" cy="0"/>
          </a:xfrm>
          <a:prstGeom prst="straightConnector1">
            <a:avLst/>
          </a:prstGeom>
          <a:ln w="28575">
            <a:solidFill>
              <a:srgbClr val="004A91"/>
            </a:solidFill>
            <a:tailEnd type="triangle"/>
          </a:ln>
        </p:spPr>
      </p:cxnSp>
      <p:sp>
        <p:nvSpPr>
          <p:cNvPr id="110" name="Forma 110"/>
          <p:cNvSpPr/>
          <p:nvPr/>
        </p:nvSpPr>
        <p:spPr>
          <a:xfrm>
            <a:off x="8950000" y="1150000"/>
            <a:ext cx="2400000" cy="9000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04A91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l" marL="0" indent="0">
              <a:buNone/>
            </a:pPr>
            <a:r>
              <a:rPr lang="pt-BR" sz="1800" b="1" dirty="0">
                <a:solidFill>
                  <a:srgbClr val="F7941D"/>
                </a:solidFill>
                <a:latin typeface="+mn-lt"/>
              </a:rPr>
              <a:t>4  </a:t>
            </a:r>
            <a:r>
              <a:rPr lang="pt-BR" sz="1500" b="1" dirty="0">
                <a:solidFill>
                  <a:srgbClr val="004A91"/>
                </a:solidFill>
                <a:latin typeface="+mn-lt"/>
              </a:rPr>
              <a:t>Chegou</a:t>
            </a:r>
          </a:p>
          <a:p>
            <a:pPr algn="l" marL="0" indent="0">
              <a:buNone/>
            </a:pPr>
            <a:r>
              <a:rPr lang="pt-BR" sz="1200" dirty="0">
                <a:solidFill>
                  <a:srgbClr val="5B6B7F"/>
                </a:solidFill>
                <a:latin typeface="+mn-lt"/>
              </a:rPr>
              <a:t>código ou QR</a:t>
            </a:r>
          </a:p>
        </p:txBody>
      </p:sp>
      <p:sp>
        <p:nvSpPr>
          <p:cNvPr id="111" name="Forma 111"/>
          <p:cNvSpPr/>
          <p:nvPr/>
        </p:nvSpPr>
        <p:spPr>
          <a:xfrm>
            <a:off x="760000" y="2450000"/>
            <a:ext cx="2400000" cy="9000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04A91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l" marL="0" indent="0">
              <a:buNone/>
            </a:pPr>
            <a:r>
              <a:rPr lang="pt-BR" sz="1800" b="1" dirty="0">
                <a:solidFill>
                  <a:srgbClr val="F7941D"/>
                </a:solidFill>
                <a:latin typeface="+mn-lt"/>
              </a:rPr>
              <a:t>5  </a:t>
            </a:r>
            <a:r>
              <a:rPr lang="pt-BR" sz="1500" b="1" dirty="0">
                <a:solidFill>
                  <a:srgbClr val="004A91"/>
                </a:solidFill>
                <a:latin typeface="+mn-lt"/>
              </a:rPr>
              <a:t>Lavagem iniciada</a:t>
            </a:r>
          </a:p>
          <a:p>
            <a:pPr algn="l" marL="0" indent="0">
              <a:buNone/>
            </a:pPr>
            <a:r>
              <a:rPr lang="pt-BR" sz="1200" dirty="0">
                <a:solidFill>
                  <a:srgbClr val="5B6B7F"/>
                </a:solidFill>
                <a:latin typeface="+mn-lt"/>
              </a:rPr>
              <a:t>validada no servidor</a:t>
            </a:r>
          </a:p>
        </p:txBody>
      </p:sp>
      <p:cxnSp>
        <p:nvCxnSpPr>
          <p:cNvPr id="112" name="Seta 112"/>
          <p:cNvCxnSpPr/>
          <p:nvPr/>
        </p:nvCxnSpPr>
        <p:spPr>
          <a:xfrm>
            <a:off x="3180000" y="2900000"/>
            <a:ext cx="290000" cy="0"/>
          </a:xfrm>
          <a:prstGeom prst="straightConnector1">
            <a:avLst/>
          </a:prstGeom>
          <a:ln w="28575">
            <a:solidFill>
              <a:srgbClr val="004A91"/>
            </a:solidFill>
            <a:tailEnd type="triangle"/>
          </a:ln>
        </p:spPr>
      </p:cxnSp>
      <p:sp>
        <p:nvSpPr>
          <p:cNvPr id="113" name="Forma 113"/>
          <p:cNvSpPr/>
          <p:nvPr/>
        </p:nvSpPr>
        <p:spPr>
          <a:xfrm>
            <a:off x="3490000" y="2450000"/>
            <a:ext cx="2400000" cy="9000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04A91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l" marL="0" indent="0">
              <a:buNone/>
            </a:pPr>
            <a:r>
              <a:rPr lang="pt-BR" sz="1800" b="1" dirty="0">
                <a:solidFill>
                  <a:srgbClr val="F7941D"/>
                </a:solidFill>
                <a:latin typeface="+mn-lt"/>
              </a:rPr>
              <a:t>6  </a:t>
            </a:r>
            <a:r>
              <a:rPr lang="pt-BR" sz="1500" b="1" dirty="0">
                <a:solidFill>
                  <a:srgbClr val="004A91"/>
                </a:solidFill>
                <a:latin typeface="+mn-lt"/>
              </a:rPr>
              <a:t>Lavagem finalizada</a:t>
            </a:r>
          </a:p>
          <a:p>
            <a:pPr algn="l" marL="0" indent="0">
              <a:buNone/>
            </a:pPr>
            <a:r>
              <a:rPr lang="pt-BR" sz="1200" dirty="0">
                <a:solidFill>
                  <a:srgbClr val="5B6B7F"/>
                </a:solidFill>
                <a:latin typeface="+mn-lt"/>
              </a:rPr>
              <a:t>lavador conclui</a:t>
            </a:r>
          </a:p>
        </p:txBody>
      </p:sp>
      <p:cxnSp>
        <p:nvCxnSpPr>
          <p:cNvPr id="114" name="Seta 114"/>
          <p:cNvCxnSpPr/>
          <p:nvPr/>
        </p:nvCxnSpPr>
        <p:spPr>
          <a:xfrm>
            <a:off x="5910000" y="2900000"/>
            <a:ext cx="290000" cy="0"/>
          </a:xfrm>
          <a:prstGeom prst="straightConnector1">
            <a:avLst/>
          </a:prstGeom>
          <a:ln w="28575">
            <a:solidFill>
              <a:srgbClr val="004A91"/>
            </a:solidFill>
            <a:tailEnd type="triangle"/>
          </a:ln>
        </p:spPr>
      </p:cxnSp>
      <p:sp>
        <p:nvSpPr>
          <p:cNvPr id="115" name="Forma 115"/>
          <p:cNvSpPr/>
          <p:nvPr/>
        </p:nvSpPr>
        <p:spPr>
          <a:xfrm>
            <a:off x="6220000" y="2450000"/>
            <a:ext cx="2400000" cy="900000"/>
          </a:xfrm>
          <a:prstGeom prst="roundRect">
            <a:avLst>
              <a:gd name="adj" fmla="val 12000"/>
            </a:avLst>
          </a:prstGeom>
          <a:solidFill>
            <a:srgbClr val="E8F1FB"/>
          </a:solidFill>
          <a:ln w="12700">
            <a:solidFill>
              <a:srgbClr val="004A91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l" marL="0" indent="0">
              <a:buNone/>
            </a:pPr>
            <a:r>
              <a:rPr lang="pt-BR" sz="1800" b="1" dirty="0">
                <a:solidFill>
                  <a:srgbClr val="F7941D"/>
                </a:solidFill>
                <a:latin typeface="+mn-lt"/>
              </a:rPr>
              <a:t>7  </a:t>
            </a:r>
            <a:r>
              <a:rPr lang="pt-BR" sz="1500" b="1" dirty="0">
                <a:solidFill>
                  <a:srgbClr val="004A91"/>
                </a:solidFill>
                <a:latin typeface="+mn-lt"/>
              </a:rPr>
              <a:t>Pagamento</a:t>
            </a:r>
          </a:p>
          <a:p>
            <a:pPr algn="l" marL="0" indent="0">
              <a:buNone/>
            </a:pPr>
            <a:r>
              <a:rPr lang="pt-BR" sz="1200" dirty="0">
                <a:solidFill>
                  <a:srgbClr val="5B6B7F"/>
                </a:solidFill>
                <a:latin typeface="+mn-lt"/>
              </a:rPr>
              <a:t>simulado</a:t>
            </a:r>
          </a:p>
        </p:txBody>
      </p:sp>
      <p:cxnSp>
        <p:nvCxnSpPr>
          <p:cNvPr id="116" name="Seta 116"/>
          <p:cNvCxnSpPr/>
          <p:nvPr/>
        </p:nvCxnSpPr>
        <p:spPr>
          <a:xfrm>
            <a:off x="8640000" y="2900000"/>
            <a:ext cx="290000" cy="0"/>
          </a:xfrm>
          <a:prstGeom prst="straightConnector1">
            <a:avLst/>
          </a:prstGeom>
          <a:ln w="28575">
            <a:solidFill>
              <a:srgbClr val="004A91"/>
            </a:solidFill>
            <a:tailEnd type="triangle"/>
          </a:ln>
        </p:spPr>
      </p:cxnSp>
      <p:sp>
        <p:nvSpPr>
          <p:cNvPr id="117" name="Forma 117"/>
          <p:cNvSpPr/>
          <p:nvPr/>
        </p:nvSpPr>
        <p:spPr>
          <a:xfrm>
            <a:off x="8950000" y="2450000"/>
            <a:ext cx="2400000" cy="900000"/>
          </a:xfrm>
          <a:prstGeom prst="roundRect">
            <a:avLst>
              <a:gd name="adj" fmla="val 12000"/>
            </a:avLst>
          </a:prstGeom>
          <a:solidFill>
            <a:srgbClr val="FFF1DC"/>
          </a:solidFill>
          <a:ln w="12700">
            <a:solidFill>
              <a:srgbClr val="F7941D"/>
            </a:solidFill>
          </a:ln>
        </p:spPr>
        <p:txBody>
          <a:bodyPr wrap="square" lIns="91440" tIns="91440" rIns="91440" bIns="91440" anchor="ctr">
            <a:noAutofit/>
          </a:bodyPr>
          <a:lstStyle/>
          <a:p>
            <a:pPr algn="l" marL="0" indent="0">
              <a:buNone/>
            </a:pPr>
            <a:r>
              <a:rPr lang="pt-BR" sz="1800" b="1" dirty="0">
                <a:solidFill>
                  <a:srgbClr val="F7941D"/>
                </a:solidFill>
                <a:latin typeface="+mn-lt"/>
              </a:rPr>
              <a:t>8  </a:t>
            </a:r>
            <a:r>
              <a:rPr lang="pt-BR" sz="1500" b="1" dirty="0">
                <a:solidFill>
                  <a:srgbClr val="004A91"/>
                </a:solidFill>
                <a:latin typeface="+mn-lt"/>
              </a:rPr>
              <a:t>Avaliação</a:t>
            </a:r>
          </a:p>
          <a:p>
            <a:pPr algn="l" marL="0" indent="0">
              <a:buNone/>
            </a:pPr>
            <a:r>
              <a:rPr lang="pt-BR" sz="1200" dirty="0">
                <a:solidFill>
                  <a:srgbClr val="5B6B7F"/>
                </a:solidFill>
                <a:latin typeface="+mn-lt"/>
              </a:rPr>
              <a:t>estrelas e comentário</a:t>
            </a:r>
          </a:p>
        </p:txBody>
      </p:sp>
      <p:sp>
        <p:nvSpPr>
          <p:cNvPr id="118" name="Forma 118"/>
          <p:cNvSpPr/>
          <p:nvPr/>
        </p:nvSpPr>
        <p:spPr>
          <a:xfrm>
            <a:off x="760000" y="3850000"/>
            <a:ext cx="3380000" cy="225000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2700">
            <a:solidFill>
              <a:srgbClr val="004A91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1800" b="1" dirty="0">
                <a:solidFill>
                  <a:srgbClr val="004A91"/>
                </a:solidFill>
                <a:latin typeface="+mn-lt"/>
              </a:rPr>
              <a:t>Sem recarregar a tela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lang="pt-BR" sz="1400" dirty="0">
                <a:solidFill>
                  <a:srgbClr val="1F2937"/>
                </a:solidFill>
                <a:latin typeface="+mn-lt"/>
              </a:rPr>
              <a:t>Cada etapa chega ao outro aparelho na hora (WebSocket do Supabase Realtime), com atualização de segurança a cada 8 segundos.</a:t>
            </a:r>
          </a:p>
        </p:txBody>
      </p:sp>
      <p:sp>
        <p:nvSpPr>
          <p:cNvPr id="119" name="Forma 119"/>
          <p:cNvSpPr/>
          <p:nvPr/>
        </p:nvSpPr>
        <p:spPr>
          <a:xfrm>
            <a:off x="4405000" y="3850000"/>
            <a:ext cx="3380000" cy="225000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2700">
            <a:solidFill>
              <a:srgbClr val="004A91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1800" b="1" dirty="0">
                <a:solidFill>
                  <a:srgbClr val="004A91"/>
                </a:solidFill>
                <a:latin typeface="+mn-lt"/>
              </a:rPr>
              <a:t>Início comprovado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lang="pt-BR" sz="1400" dirty="0">
                <a:solidFill>
                  <a:srgbClr val="1F2937"/>
                </a:solidFill>
                <a:latin typeface="+mn-lt"/>
              </a:rPr>
              <a:t>O lavador só inicia com o código de 6 dígitos (ou o QR) do cliente. O servidor confere e bloqueia por 5 minutos após 5 erros.</a:t>
            </a:r>
          </a:p>
        </p:txBody>
      </p:sp>
      <p:sp>
        <p:nvSpPr>
          <p:cNvPr id="120" name="Forma 120"/>
          <p:cNvSpPr/>
          <p:nvPr/>
        </p:nvSpPr>
        <p:spPr>
          <a:xfrm>
            <a:off x="8050000" y="3850000"/>
            <a:ext cx="3380000" cy="2250000"/>
          </a:xfrm>
          <a:prstGeom prst="roundRect">
            <a:avLst>
              <a:gd name="adj" fmla="val 6000"/>
            </a:avLst>
          </a:prstGeom>
          <a:solidFill>
            <a:srgbClr val="E8F1FB"/>
          </a:solidFill>
          <a:ln w="12700">
            <a:solidFill>
              <a:srgbClr val="004A91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algn="l" marL="0" indent="0">
              <a:spcAft>
                <a:spcPts val="600"/>
              </a:spcAft>
              <a:buNone/>
            </a:pPr>
            <a:r>
              <a:rPr lang="pt-BR" sz="1800" b="1" dirty="0">
                <a:solidFill>
                  <a:srgbClr val="004A91"/>
                </a:solidFill>
                <a:latin typeface="+mn-lt"/>
              </a:rPr>
              <a:t>Palco da demonstração</a:t>
            </a:r>
          </a:p>
          <a:p>
            <a:pPr algn="l" marL="0" indent="0">
              <a:spcAft>
                <a:spcPts val="400"/>
              </a:spcAft>
              <a:buNone/>
            </a:pPr>
            <a:r>
              <a:rPr lang="pt-BR" sz="1400" dirty="0">
                <a:solidFill>
                  <a:srgbClr val="1F2937"/>
                </a:solidFill>
                <a:latin typeface="+mn-lt"/>
              </a:rPr>
              <a:t>Cliente e lavador lado a lado na mesma tela, com sessões separadas: um notebook no telão basta.</a:t>
            </a:r>
          </a:p>
        </p:txBody>
      </p:sp>
    </p:spTree>
    <p:extLst>
      <p:ext uri="{BB962C8B-B14F-4D97-AF65-F5344CB8AC3E}">
        <p14:creationId xmlns:p14="http://schemas.microsoft.com/office/powerpoint/2010/main" val="18537307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76DEB-2668-D4FD-D994-671DBA3E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000" y="300000"/>
            <a:ext cx="10670000" cy="700000"/>
          </a:xfr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3800" b="1"/>
              <a:t>O aplicativo em funcionamento</a:t>
            </a:r>
          </a:p>
        </p:txBody>
      </p:sp>
      <p:pic>
        <p:nvPicPr>
          <p:cNvPr id="121" name="Imagem 121" descr="Lista de pedidos disponíveis do lavador"/>
          <p:cNvPicPr>
            <a:picLocks noChangeAspect="1"/>
          </p:cNvPicPr>
          <p:nvPr/>
        </p:nvPicPr>
        <p:blipFill>
          <a:blip r:embed="rIdImg1"/>
          <a:stretch>
            <a:fillRect/>
          </a:stretch>
        </p:blipFill>
        <p:spPr>
          <a:xfrm>
            <a:off x="760000" y="1150000"/>
            <a:ext cx="1825777" cy="3950000"/>
          </a:xfrm>
          <a:prstGeom prst="roundRect">
            <a:avLst>
              <a:gd name="adj" fmla="val 3000"/>
            </a:avLst>
          </a:prstGeom>
          <a:ln w="19050">
            <a:solidFill>
              <a:srgbClr val="C9D6E8"/>
            </a:solidFill>
          </a:ln>
        </p:spPr>
      </p:pic>
      <p:pic>
        <p:nvPicPr>
          <p:cNvPr id="122" name="Imagem 122" descr="Código de 6 dígitos e QR do cliente"/>
          <p:cNvPicPr>
            <a:picLocks noChangeAspect="1"/>
          </p:cNvPicPr>
          <p:nvPr/>
        </p:nvPicPr>
        <p:blipFill>
          <a:blip r:embed="rIdImg2"/>
          <a:stretch>
            <a:fillRect/>
          </a:stretch>
        </p:blipFill>
        <p:spPr>
          <a:xfrm>
            <a:off x="2835777" y="1150000"/>
            <a:ext cx="1825777" cy="3950000"/>
          </a:xfrm>
          <a:prstGeom prst="roundRect">
            <a:avLst>
              <a:gd name="adj" fmla="val 3000"/>
            </a:avLst>
          </a:prstGeom>
          <a:ln w="19050">
            <a:solidFill>
              <a:srgbClr val="C9D6E8"/>
            </a:solidFill>
          </a:ln>
        </p:spPr>
      </p:pic>
      <p:pic>
        <p:nvPicPr>
          <p:cNvPr id="123" name="Imagem 123" descr="Painel do administrador com indicadores"/>
          <p:cNvPicPr>
            <a:picLocks noChangeAspect="1"/>
          </p:cNvPicPr>
          <p:nvPr/>
        </p:nvPicPr>
        <p:blipFill>
          <a:blip r:embed="rIdImg3"/>
          <a:stretch>
            <a:fillRect/>
          </a:stretch>
        </p:blipFill>
        <p:spPr>
          <a:xfrm>
            <a:off x="5061554" y="1150000"/>
            <a:ext cx="5250000" cy="3750000"/>
          </a:xfrm>
          <a:prstGeom prst="roundRect">
            <a:avLst>
              <a:gd name="adj" fmla="val 3000"/>
            </a:avLst>
          </a:prstGeom>
          <a:ln w="19050">
            <a:solidFill>
              <a:srgbClr val="C9D6E8"/>
            </a:solidFill>
          </a:ln>
        </p:spPr>
      </p:pic>
      <p:sp>
        <p:nvSpPr>
          <p:cNvPr id="124" name="Forma 124"/>
          <p:cNvSpPr/>
          <p:nvPr/>
        </p:nvSpPr>
        <p:spPr>
          <a:xfrm>
            <a:off x="760000" y="5160000"/>
            <a:ext cx="1925777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</a:pPr>
            <a:r>
              <a:rPr lang="pt-BR" sz="1200" b="1" dirty="0">
                <a:solidFill>
                  <a:srgbClr val="004A91"/>
                </a:solidFill>
                <a:latin typeface="+mn-lt"/>
              </a:rPr>
              <a:t>Lavador: pedidos disponíveis, ao vivo</a:t>
            </a:r>
          </a:p>
        </p:txBody>
      </p:sp>
      <p:sp>
        <p:nvSpPr>
          <p:cNvPr id="125" name="Forma 125"/>
          <p:cNvSpPr/>
          <p:nvPr/>
        </p:nvSpPr>
        <p:spPr>
          <a:xfrm>
            <a:off x="2835777" y="5160000"/>
            <a:ext cx="1925777" cy="8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</a:pPr>
            <a:r>
              <a:rPr lang="pt-BR" sz="1200" b="1" dirty="0">
                <a:solidFill>
                  <a:srgbClr val="004A91"/>
                </a:solidFill>
                <a:latin typeface="+mn-lt"/>
              </a:rPr>
              <a:t>Cliente: código e QR de início</a:t>
            </a:r>
          </a:p>
        </p:txBody>
      </p:sp>
      <p:sp>
        <p:nvSpPr>
          <p:cNvPr id="126" name="Forma 126"/>
          <p:cNvSpPr/>
          <p:nvPr/>
        </p:nvSpPr>
        <p:spPr>
          <a:xfrm>
            <a:off x="5061554" y="4960000"/>
            <a:ext cx="525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</a:pPr>
            <a:r>
              <a:rPr lang="pt-BR" sz="1200" b="1" dirty="0">
                <a:solidFill>
                  <a:srgbClr val="004A91"/>
                </a:solidFill>
                <a:latin typeface="+mn-lt"/>
              </a:rPr>
              <a:t>Administrador: indicadores da operação (dados de demonstração rotulados como fictícios)</a:t>
            </a:r>
          </a:p>
        </p:txBody>
      </p:sp>
      <p:sp>
        <p:nvSpPr>
          <p:cNvPr id="127" name="Forma 127"/>
          <p:cNvSpPr/>
          <p:nvPr/>
        </p:nvSpPr>
        <p:spPr>
          <a:xfrm>
            <a:off x="5061554" y="5500000"/>
            <a:ext cx="5250000" cy="45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</a:pPr>
            <a:r>
              <a:rPr lang="pt-BR" sz="1100" dirty="0">
                <a:solidFill>
                  <a:srgbClr val="5B6B7F"/>
                </a:solidFill>
                <a:latin typeface="+mn-lt"/>
              </a:rPr>
              <a:t>Capturas do ambiente de testes automatizados. Os mapas carregam do OpenStreetMap quando há internet.</a:t>
            </a:r>
          </a:p>
        </p:txBody>
      </p:sp>
    </p:spTree>
    <p:extLst>
      <p:ext uri="{BB962C8B-B14F-4D97-AF65-F5344CB8AC3E}">
        <p14:creationId xmlns:p14="http://schemas.microsoft.com/office/powerpoint/2010/main" val="1853730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76DEB-2668-D4FD-D994-671DBA3E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000" y="300000"/>
            <a:ext cx="10670000" cy="700000"/>
          </a:xfr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4000" b="1"/>
              <a:t>Arquitetura</a:t>
            </a:r>
          </a:p>
        </p:txBody>
      </p:sp>
      <p:sp>
        <p:nvSpPr>
          <p:cNvPr id="128" name="Forma 128"/>
          <p:cNvSpPr/>
          <p:nvPr/>
        </p:nvSpPr>
        <p:spPr>
          <a:xfrm>
            <a:off x="760000" y="1250000"/>
            <a:ext cx="3300000" cy="1500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004A91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700" b="1" dirty="0">
                <a:solidFill>
                  <a:srgbClr val="004A91"/>
                </a:solidFill>
                <a:latin typeface="+mn-lt"/>
              </a:rPr>
              <a:t>Celular ou notebook</a:t>
            </a:r>
          </a:p>
          <a:p>
            <a:pPr algn="l" marL="0" indent="0">
              <a:buNone/>
            </a:pPr>
            <a:r>
              <a:rPr lang="pt-BR" sz="1300" dirty="0">
                <a:solidFill>
                  <a:srgbClr val="1F2937"/>
                </a:solidFill>
                <a:latin typeface="+mn-lt"/>
              </a:rPr>
              <a:t>Aplicativo web instalável (PWA) com 3 perfis: cliente, lavador e administrador</a:t>
            </a:r>
          </a:p>
        </p:txBody>
      </p:sp>
      <p:sp>
        <p:nvSpPr>
          <p:cNvPr id="129" name="Forma 129"/>
          <p:cNvSpPr/>
          <p:nvPr/>
        </p:nvSpPr>
        <p:spPr>
          <a:xfrm>
            <a:off x="760000" y="3700000"/>
            <a:ext cx="3300000" cy="1300000"/>
          </a:xfrm>
          <a:prstGeom prst="roundRect">
            <a:avLst>
              <a:gd name="adj" fmla="val 8000"/>
            </a:avLst>
          </a:prstGeom>
          <a:solidFill>
            <a:srgbClr val="FFF1DC"/>
          </a:solidFill>
          <a:ln w="12700">
            <a:solidFill>
              <a:srgbClr val="F7941D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algn="l" marL="0" indent="0">
              <a:spcAft>
                <a:spcPts val="400"/>
              </a:spcAft>
              <a:buNone/>
            </a:pPr>
            <a:r>
              <a:rPr lang="pt-BR" sz="1700" b="1" dirty="0">
                <a:solidFill>
                  <a:srgbClr val="B45F06"/>
                </a:solidFill>
                <a:latin typeface="+mn-lt"/>
              </a:rPr>
              <a:t>GitHub Pages</a:t>
            </a:r>
          </a:p>
          <a:p>
            <a:pPr algn="l" marL="0" indent="0">
              <a:buNone/>
            </a:pPr>
            <a:r>
              <a:rPr lang="pt-BR" sz="1300" dirty="0">
                <a:solidFill>
                  <a:srgbClr val="1F2937"/>
                </a:solidFill>
                <a:latin typeface="+mn-lt"/>
              </a:rPr>
              <a:t>Hospedagem estática com HTTPS. O código é público no GitHub.</a:t>
            </a:r>
          </a:p>
        </p:txBody>
      </p:sp>
      <p:cxnSp>
        <p:nvCxnSpPr>
          <p:cNvPr id="130" name="Seta 130"/>
          <p:cNvCxnSpPr/>
          <p:nvPr/>
        </p:nvCxnSpPr>
        <p:spPr>
          <a:xfrm flipV="1">
            <a:off x="2410000" y="2780000"/>
            <a:ext cx="0" cy="900000"/>
          </a:xfrm>
          <a:prstGeom prst="straightConnector1">
            <a:avLst/>
          </a:prstGeom>
          <a:ln w="28575">
            <a:solidFill>
              <a:srgbClr val="F7941D"/>
            </a:solidFill>
            <a:tailEnd type="triangle"/>
          </a:ln>
        </p:spPr>
      </p:cxnSp>
      <p:sp>
        <p:nvSpPr>
          <p:cNvPr id="131" name="Forma 131"/>
          <p:cNvSpPr/>
          <p:nvPr/>
        </p:nvSpPr>
        <p:spPr>
          <a:xfrm>
            <a:off x="2500000" y="3000000"/>
            <a:ext cx="1600000" cy="5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</a:pPr>
            <a:r>
              <a:rPr lang="pt-BR" sz="1100" dirty="0">
                <a:solidFill>
                  <a:srgbClr val="5B6B7F"/>
                </a:solidFill>
                <a:latin typeface="+mn-lt"/>
              </a:rPr>
              <a:t>entrega o app</a:t>
            </a:r>
          </a:p>
        </p:txBody>
      </p:sp>
      <p:cxnSp>
        <p:nvCxnSpPr>
          <p:cNvPr id="132" name="Seta 132"/>
          <p:cNvCxnSpPr/>
          <p:nvPr/>
        </p:nvCxnSpPr>
        <p:spPr>
          <a:xfrm>
            <a:off x="4100000" y="2000000"/>
            <a:ext cx="1050000" cy="0"/>
          </a:xfrm>
          <a:prstGeom prst="straightConnector1">
            <a:avLst/>
          </a:prstGeom>
          <a:ln w="28575">
            <a:solidFill>
              <a:srgbClr val="004A91"/>
            </a:solidFill>
            <a:headEnd type="triangle"/>
            <a:tailEnd type="triangle"/>
          </a:ln>
        </p:spPr>
      </p:cxnSp>
      <p:sp>
        <p:nvSpPr>
          <p:cNvPr id="133" name="Forma 133"/>
          <p:cNvSpPr/>
          <p:nvPr/>
        </p:nvSpPr>
        <p:spPr>
          <a:xfrm>
            <a:off x="4050000" y="2080000"/>
            <a:ext cx="115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ctr" marL="0" indent="0">
              <a:buNone/>
            </a:pPr>
            <a:r>
              <a:rPr lang="pt-BR" sz="1100" dirty="0">
                <a:solidFill>
                  <a:srgbClr val="5B6B7F"/>
                </a:solidFill>
                <a:latin typeface="+mn-lt"/>
              </a:rPr>
              <a:t>HTTPS + WebSocket</a:t>
            </a:r>
          </a:p>
        </p:txBody>
      </p:sp>
      <p:sp>
        <p:nvSpPr>
          <p:cNvPr id="134" name="Forma 134"/>
          <p:cNvSpPr/>
          <p:nvPr/>
        </p:nvSpPr>
        <p:spPr>
          <a:xfrm>
            <a:off x="5200000" y="1150000"/>
            <a:ext cx="6250000" cy="40000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5400">
            <a:solidFill>
              <a:srgbClr val="004A91"/>
            </a:solidFill>
          </a:ln>
        </p:spPr>
        <p:txBody>
          <a:bodyPr wrap="square" lIns="137160" tIns="137160" rIns="137160" bIns="137160" anchor="t">
            <a:noAutofit/>
          </a:bodyPr>
          <a:lstStyle/>
          <a:p>
            <a:pPr algn="l" marL="0" indent="0">
              <a:buNone/>
            </a:pPr>
            <a:r>
              <a:rPr lang="pt-BR" sz="1800" b="1" dirty="0">
                <a:solidFill>
                  <a:srgbClr val="004A91"/>
                </a:solidFill>
                <a:latin typeface="+mn-lt"/>
              </a:rPr>
              <a:t>Supabase (banco e serviços)</a:t>
            </a:r>
          </a:p>
        </p:txBody>
      </p:sp>
      <p:sp>
        <p:nvSpPr>
          <p:cNvPr id="135" name="Forma 135"/>
          <p:cNvSpPr/>
          <p:nvPr/>
        </p:nvSpPr>
        <p:spPr>
          <a:xfrm>
            <a:off x="5400000" y="1800000"/>
            <a:ext cx="2800000" cy="1500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C9D6E8"/>
            </a:solidFill>
          </a:ln>
        </p:spPr>
        <p:txBody>
          <a:bodyPr wrap="square" lIns="109728" tIns="109728" rIns="109728" bIns="109728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pt-BR" sz="1500" b="1" dirty="0">
                <a:solidFill>
                  <a:srgbClr val="004A91"/>
                </a:solidFill>
                <a:latin typeface="+mn-lt"/>
              </a:rPr>
              <a:t>Autenticação</a:t>
            </a:r>
          </a:p>
          <a:p>
            <a:pPr algn="l" marL="0" indent="0">
              <a:buNone/>
            </a:pPr>
            <a:r>
              <a:rPr lang="pt-BR" sz="1200" dirty="0">
                <a:solidFill>
                  <a:srgbClr val="1F2937"/>
                </a:solidFill>
                <a:latin typeface="+mn-lt"/>
              </a:rPr>
              <a:t>e-mail e senha; perfil de cliente, lavador ou admin</a:t>
            </a:r>
          </a:p>
        </p:txBody>
      </p:sp>
      <p:sp>
        <p:nvSpPr>
          <p:cNvPr id="136" name="Forma 136"/>
          <p:cNvSpPr/>
          <p:nvPr/>
        </p:nvSpPr>
        <p:spPr>
          <a:xfrm>
            <a:off x="8350000" y="1800000"/>
            <a:ext cx="2800000" cy="1500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C9D6E8"/>
            </a:solidFill>
          </a:ln>
        </p:spPr>
        <p:txBody>
          <a:bodyPr wrap="square" lIns="109728" tIns="109728" rIns="109728" bIns="109728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pt-BR" sz="1500" b="1" dirty="0">
                <a:solidFill>
                  <a:srgbClr val="004A91"/>
                </a:solidFill>
                <a:latin typeface="+mn-lt"/>
              </a:rPr>
              <a:t>Banco de dados + RLS</a:t>
            </a:r>
          </a:p>
          <a:p>
            <a:pPr algn="l" marL="0" indent="0">
              <a:buNone/>
            </a:pPr>
            <a:r>
              <a:rPr lang="pt-BR" sz="1200" dirty="0">
                <a:solidFill>
                  <a:srgbClr val="1F2937"/>
                </a:solidFill>
                <a:latin typeface="+mn-lt"/>
              </a:rPr>
              <a:t>cada perfil só lê o que é seu (controle por linha)</a:t>
            </a:r>
          </a:p>
        </p:txBody>
      </p:sp>
      <p:sp>
        <p:nvSpPr>
          <p:cNvPr id="137" name="Forma 137"/>
          <p:cNvSpPr/>
          <p:nvPr/>
        </p:nvSpPr>
        <p:spPr>
          <a:xfrm>
            <a:off x="5400000" y="3450000"/>
            <a:ext cx="2800000" cy="1500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C9D6E8"/>
            </a:solidFill>
          </a:ln>
        </p:spPr>
        <p:txBody>
          <a:bodyPr wrap="square" lIns="109728" tIns="109728" rIns="109728" bIns="109728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pt-BR" sz="1500" b="1" dirty="0">
                <a:solidFill>
                  <a:srgbClr val="004A91"/>
                </a:solidFill>
                <a:latin typeface="+mn-lt"/>
              </a:rPr>
              <a:t>Funções no servidor</a:t>
            </a:r>
          </a:p>
          <a:p>
            <a:pPr algn="l" marL="0" indent="0">
              <a:buNone/>
            </a:pPr>
            <a:r>
              <a:rPr lang="pt-BR" sz="1200" dirty="0">
                <a:solidFill>
                  <a:srgbClr val="1F2937"/>
                </a:solidFill>
                <a:latin typeface="+mn-lt"/>
              </a:rPr>
              <a:t>única porta de escrita: validam perfil, etapa, preço e código</a:t>
            </a:r>
          </a:p>
        </p:txBody>
      </p:sp>
      <p:sp>
        <p:nvSpPr>
          <p:cNvPr id="138" name="Forma 138"/>
          <p:cNvSpPr/>
          <p:nvPr/>
        </p:nvSpPr>
        <p:spPr>
          <a:xfrm>
            <a:off x="8350000" y="3450000"/>
            <a:ext cx="2800000" cy="1500000"/>
          </a:xfrm>
          <a:prstGeom prst="roundRect">
            <a:avLst>
              <a:gd name="adj" fmla="val 8000"/>
            </a:avLst>
          </a:prstGeom>
          <a:solidFill>
            <a:srgbClr val="E8F1FB"/>
          </a:solidFill>
          <a:ln w="12700">
            <a:solidFill>
              <a:srgbClr val="C9D6E8"/>
            </a:solidFill>
          </a:ln>
        </p:spPr>
        <p:txBody>
          <a:bodyPr wrap="square" lIns="109728" tIns="109728" rIns="109728" bIns="109728" anchor="t">
            <a:noAutofit/>
          </a:bodyPr>
          <a:lstStyle/>
          <a:p>
            <a:pPr algn="l" marL="0" indent="0">
              <a:spcAft>
                <a:spcPts val="300"/>
              </a:spcAft>
              <a:buNone/>
            </a:pPr>
            <a:r>
              <a:rPr lang="pt-BR" sz="1500" b="1" dirty="0">
                <a:solidFill>
                  <a:srgbClr val="004A91"/>
                </a:solidFill>
                <a:latin typeface="+mn-lt"/>
              </a:rPr>
              <a:t>Tempo real</a:t>
            </a:r>
          </a:p>
          <a:p>
            <a:pPr algn="l" marL="0" indent="0">
              <a:buNone/>
            </a:pPr>
            <a:r>
              <a:rPr lang="pt-BR" sz="1200" dirty="0">
                <a:solidFill>
                  <a:srgbClr val="1F2937"/>
                </a:solidFill>
                <a:latin typeface="+mn-lt"/>
              </a:rPr>
              <a:t>WebSocket: o cliente vê o lavador agir sem recarregar</a:t>
            </a:r>
          </a:p>
        </p:txBody>
      </p:sp>
      <p:sp>
        <p:nvSpPr>
          <p:cNvPr id="139" name="Forma 139"/>
          <p:cNvSpPr/>
          <p:nvPr/>
        </p:nvSpPr>
        <p:spPr>
          <a:xfrm>
            <a:off x="760000" y="5350000"/>
            <a:ext cx="10690000" cy="700000"/>
          </a:xfrm>
          <a:prstGeom prst="roundRect">
            <a:avLst>
              <a:gd name="adj" fmla="val 12000"/>
            </a:avLst>
          </a:prstGeom>
          <a:solidFill>
            <a:srgbClr val="F3F4F6"/>
          </a:solidFill>
          <a:ln w="12700">
            <a:solidFill>
              <a:srgbClr val="C9D6E8"/>
            </a:solidFill>
          </a:ln>
        </p:spPr>
        <p:txBody>
          <a:bodyPr wrap="square" lIns="137160" tIns="137160" rIns="137160" bIns="137160" anchor="ctr">
            <a:noAutofit/>
          </a:bodyPr>
          <a:lstStyle/>
          <a:p>
            <a:pPr algn="l" marL="0" indent="0">
              <a:buNone/>
            </a:pPr>
            <a:r>
              <a:rPr lang="pt-BR" sz="1400" b="1" dirty="0">
                <a:solidFill>
                  <a:srgbClr val="004A91"/>
                </a:solidFill>
                <a:latin typeface="+mn-lt"/>
              </a:rPr>
              <a:t>Mapas e busca de endereço: </a:t>
            </a:r>
            <a:r>
              <a:rPr lang="pt-BR" sz="1400" dirty="0">
                <a:solidFill>
                  <a:srgbClr val="1F2937"/>
                </a:solidFill>
                <a:latin typeface="+mn-lt"/>
              </a:rPr>
              <a:t>OpenStreetMap e Nominatim (gratuitos, sem chave de API). Sem servidor próprio: custo zero na demonstração.</a:t>
            </a:r>
          </a:p>
        </p:txBody>
      </p:sp>
    </p:spTree>
    <p:extLst>
      <p:ext uri="{BB962C8B-B14F-4D97-AF65-F5344CB8AC3E}">
        <p14:creationId xmlns:p14="http://schemas.microsoft.com/office/powerpoint/2010/main" val="18537307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76DEB-2668-D4FD-D994-671DBA3E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000" y="300000"/>
            <a:ext cx="10670000" cy="700000"/>
          </a:xfr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3800" b="1"/>
              <a:t>Segurança desde a concepção</a:t>
            </a:r>
          </a:p>
        </p:txBody>
      </p:sp>
      <p:graphicFrame>
        <p:nvGraphicFramePr>
          <p:cNvPr id="140" name="Tabela 140"/>
          <p:cNvGraphicFramePr>
            <a:graphicFrameLocks noGrp="1"/>
          </p:cNvGraphicFramePr>
          <p:nvPr/>
        </p:nvGraphicFramePr>
        <p:xfrm>
          <a:off x="760000" y="1100000"/>
          <a:ext cx="10670000" cy="4540000"/>
        </p:xfrm>
        <a:graphic>
          <a:graphicData uri="http://schemas.openxmlformats.org/drawingml/2006/table">
            <a:tbl>
              <a:tblPr firstRow="1"/>
              <a:tblGrid>
                <a:gridCol w="3900000"/>
                <a:gridCol w="6770000"/>
              </a:tblGrid>
              <a:tr h="380000"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FFFFFF"/>
                          </a:solidFill>
                          <a:latin typeface="+mn-lt"/>
                        </a:rPr>
                        <a:t>Ameaça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004A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FFFFFF"/>
                          </a:solidFill>
                          <a:latin typeface="+mn-lt"/>
                        </a:rPr>
                        <a:t>Controle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004A91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1F2937"/>
                          </a:solidFill>
                          <a:latin typeface="+mn-lt"/>
                        </a:rPr>
                        <a:t>Ver dados de outro cliente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1F2937"/>
                          </a:solidFill>
                          <a:latin typeface="+mn-lt"/>
                        </a:rPr>
                        <a:t>Controle por linha no banco (RLS): cada perfil só lê o que é seu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1F2937"/>
                          </a:solidFill>
                          <a:latin typeface="+mn-lt"/>
                        </a:rPr>
                        <a:t>Lavador pular etapas ou finalizar sem chegar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1F2937"/>
                          </a:solidFill>
                          <a:latin typeface="+mn-lt"/>
                        </a:rPr>
                        <a:t>Sem escrita direta: funções no servidor validam a sequência de etapas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1F2937"/>
                          </a:solidFill>
                          <a:latin typeface="+mn-lt"/>
                        </a:rPr>
                        <a:t>Lavador ver o endereço sem aceitar o pedido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1F2937"/>
                          </a:solidFill>
                          <a:latin typeface="+mn-lt"/>
                        </a:rPr>
                        <a:t>Endereço e telefone em tabela separada, liberada só após o aceite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1F2937"/>
                          </a:solidFill>
                          <a:latin typeface="+mn-lt"/>
                        </a:rPr>
                        <a:t>Falso registro de início do serviço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1F2937"/>
                          </a:solidFill>
                          <a:latin typeface="+mn-lt"/>
                        </a:rPr>
                        <a:t>Código de 6 dígitos conferido no servidor; 5 erros bloqueiam por 5 minutos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1F2937"/>
                          </a:solidFill>
                          <a:latin typeface="+mn-lt"/>
                        </a:rPr>
                        <a:t>Cadastro como administrador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1F2937"/>
                          </a:solidFill>
                          <a:latin typeface="+mn-lt"/>
                        </a:rPr>
                        <a:t>Perfil admin só por SQL privilegiado; o cadastro aceita cliente ou lavador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1F2937"/>
                          </a:solidFill>
                          <a:latin typeface="+mn-lt"/>
                        </a:rPr>
                        <a:t>Adulterar o preço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1F2937"/>
                          </a:solidFill>
                          <a:latin typeface="+mn-lt"/>
                        </a:rPr>
                        <a:t>Preço calculado no servidor; o navegador apenas exibe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1F2937"/>
                          </a:solidFill>
                          <a:latin typeface="+mn-lt"/>
                        </a:rPr>
                        <a:t>Injeção de script (XSS)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1F2937"/>
                          </a:solidFill>
                          <a:latin typeface="+mn-lt"/>
                        </a:rPr>
                        <a:t>Conteúdo sempre tratado como texto + política de segurança de conteúdo (CSP)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520000">
                <a:tc>
                  <a:txBody>
                    <a:bodyPr/>
                    <a:lstStyle/>
                    <a:p>
                      <a:pPr algn="l"/>
                      <a:r>
                        <a:rPr lang="pt-BR" sz="1300" b="1" dirty="0">
                          <a:solidFill>
                            <a:srgbClr val="1F2937"/>
                          </a:solidFill>
                          <a:latin typeface="+mn-lt"/>
                        </a:rPr>
                        <a:t>Privacidade (LGPD)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300" dirty="0">
                          <a:solidFill>
                            <a:srgbClr val="1F2937"/>
                          </a:solidFill>
                          <a:latin typeface="+mn-lt"/>
                        </a:rPr>
                        <a:t>Dados mínimos; painel sem endereço, telefone ou código; dados fictícios na demonstração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37307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D76DEB-2668-D4FD-D994-671DBA3E06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0000" y="300000"/>
            <a:ext cx="10670000" cy="700000"/>
          </a:xfrm>
        </p:spPr>
        <p:txBody>
          <a:bodyPr wrap="square" lIns="0" tIns="0" rIns="0" bIns="0" anchor="t">
            <a:noAutofit/>
          </a:bodyPr>
          <a:lstStyle/>
          <a:p>
            <a:pPr algn="l"/>
            <a:r>
              <a:rPr lang="pt-BR" sz="3600" b="1"/>
              <a:t>O que é simulado e onde está o limite</a:t>
            </a:r>
          </a:p>
        </p:txBody>
      </p:sp>
      <p:graphicFrame>
        <p:nvGraphicFramePr>
          <p:cNvPr id="141" name="Tabela 141"/>
          <p:cNvGraphicFramePr>
            <a:graphicFrameLocks noGrp="1"/>
          </p:cNvGraphicFramePr>
          <p:nvPr/>
        </p:nvGraphicFramePr>
        <p:xfrm>
          <a:off x="760000" y="1250000"/>
          <a:ext cx="10670000" cy="4050000"/>
        </p:xfrm>
        <a:graphic>
          <a:graphicData uri="http://schemas.openxmlformats.org/drawingml/2006/table">
            <a:tbl>
              <a:tblPr firstRow="1"/>
              <a:tblGrid>
                <a:gridCol w="2500000"/>
                <a:gridCol w="4300000"/>
                <a:gridCol w="3870000"/>
              </a:tblGrid>
              <a:tr h="450000">
                <a:tc>
                  <a:txBody>
                    <a:bodyPr/>
                    <a:lstStyle/>
                    <a:p>
                      <a:pPr algn="l"/>
                      <a:r>
                        <a:rPr lang="pt-BR" sz="1500" b="1" dirty="0">
                          <a:solidFill>
                            <a:srgbClr val="FFFFFF"/>
                          </a:solidFill>
                          <a:latin typeface="+mn-lt"/>
                        </a:rPr>
                        <a:t>Item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004A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b="1" dirty="0">
                          <a:solidFill>
                            <a:srgbClr val="FFFFFF"/>
                          </a:solidFill>
                          <a:latin typeface="+mn-lt"/>
                        </a:rPr>
                        <a:t>Na demonstração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004A9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b="1" dirty="0">
                          <a:solidFill>
                            <a:srgbClr val="FFFFFF"/>
                          </a:solidFill>
                          <a:latin typeface="+mn-lt"/>
                        </a:rPr>
                        <a:t>Em produção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004A91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lang="pt-BR" sz="1500" b="1" dirty="0">
                          <a:solidFill>
                            <a:srgbClr val="1F2937"/>
                          </a:solidFill>
                          <a:latin typeface="+mn-lt"/>
                        </a:rPr>
                        <a:t>Pagamento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>
                          <a:solidFill>
                            <a:srgbClr val="1F2937"/>
                          </a:solidFill>
                          <a:latin typeface="+mn-lt"/>
                        </a:rPr>
                        <a:t>Simulado; nenhum dado financeiro é coletado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>
                          <a:solidFill>
                            <a:srgbClr val="1F2937"/>
                          </a:solidFill>
                          <a:latin typeface="+mn-lt"/>
                        </a:rPr>
                        <a:t>Gateway de pagamento (PIX e cartão)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lang="pt-BR" sz="1500" b="1" dirty="0">
                          <a:solidFill>
                            <a:srgbClr val="1F2937"/>
                          </a:solidFill>
                          <a:latin typeface="+mn-lt"/>
                        </a:rPr>
                        <a:t>Posição do lavador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>
                          <a:solidFill>
                            <a:srgbClr val="1F2937"/>
                          </a:solidFill>
                          <a:latin typeface="+mn-lt"/>
                        </a:rPr>
                        <a:t>Trajeto simulado no mapa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>
                          <a:solidFill>
                            <a:srgbClr val="1F2937"/>
                          </a:solidFill>
                          <a:latin typeface="+mn-lt"/>
                        </a:rPr>
                        <a:t>GPS real com trânsito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lang="pt-BR" sz="1500" b="1" dirty="0">
                          <a:solidFill>
                            <a:srgbClr val="1F2937"/>
                          </a:solidFill>
                          <a:latin typeface="+mn-lt"/>
                        </a:rPr>
                        <a:t>Distância da rota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>
                          <a:solidFill>
                            <a:srgbClr val="1F2937"/>
                          </a:solidFill>
                          <a:latin typeface="+mn-lt"/>
                        </a:rPr>
                        <a:t>Linha reta (vizinho mais próximo)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>
                          <a:solidFill>
                            <a:srgbClr val="1F2937"/>
                          </a:solidFill>
                          <a:latin typeface="+mn-lt"/>
                        </a:rPr>
                        <a:t>Rota por ruas, com trânsito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lang="pt-BR" sz="1500" b="1" dirty="0">
                          <a:solidFill>
                            <a:srgbClr val="1F2937"/>
                          </a:solidFill>
                          <a:latin typeface="+mn-lt"/>
                        </a:rPr>
                        <a:t>Indicadores do painel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>
                          <a:solidFill>
                            <a:srgbClr val="1F2937"/>
                          </a:solidFill>
                          <a:latin typeface="+mn-lt"/>
                        </a:rPr>
                        <a:t>120 pedidos fictícios, rotulados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>
                          <a:solidFill>
                            <a:srgbClr val="1F2937"/>
                          </a:solidFill>
                          <a:latin typeface="+mn-lt"/>
                        </a:rPr>
                        <a:t>Dados reais da operação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  <a:tr h="720000">
                <a:tc>
                  <a:txBody>
                    <a:bodyPr/>
                    <a:lstStyle/>
                    <a:p>
                      <a:pPr algn="l"/>
                      <a:r>
                        <a:rPr lang="pt-BR" sz="1500" b="1" dirty="0">
                          <a:solidFill>
                            <a:srgbClr val="1F2937"/>
                          </a:solidFill>
                          <a:latin typeface="+mn-lt"/>
                        </a:rPr>
                        <a:t>Notificações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E8F1F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>
                          <a:solidFill>
                            <a:srgbClr val="1F2937"/>
                          </a:solidFill>
                          <a:latin typeface="+mn-lt"/>
                        </a:rPr>
                        <a:t>Dentro do aplicativo, em tempo real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pt-BR" sz="1500" dirty="0">
                          <a:solidFill>
                            <a:srgbClr val="1F2937"/>
                          </a:solidFill>
                          <a:latin typeface="+mn-lt"/>
                        </a:rPr>
                        <a:t>Push no celular</a:t>
                      </a:r>
                    </a:p>
                  </a:txBody>
                  <a:tcPr marL="91440" marR="91440" marT="45720" marB="45720" anchor="ctr">
                    <a:lnB w="9525">
                      <a:solidFill>
                        <a:srgbClr val="C9D6E8"/>
                      </a:solidFill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2" name="Forma 142"/>
          <p:cNvSpPr/>
          <p:nvPr/>
        </p:nvSpPr>
        <p:spPr>
          <a:xfrm>
            <a:off x="760000" y="5450000"/>
            <a:ext cx="10670000" cy="6000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>
            <a:noAutofit/>
          </a:bodyPr>
          <a:lstStyle/>
          <a:p>
            <a:pPr algn="l" marL="0" indent="0">
              <a:buNone/>
            </a:pPr>
            <a:r>
              <a:rPr lang="pt-BR" sz="1400" dirty="0">
                <a:solidFill>
                  <a:srgbClr val="5B6B7F"/>
                </a:solidFill>
                <a:latin typeface="+mn-lt"/>
              </a:rPr>
              <a:t>Declarar os limites com clareza faz parte do projeto: o que está simulado hoje já tem o ponto de troca definido.</a:t>
            </a:r>
          </a:p>
        </p:txBody>
      </p:sp>
    </p:spTree>
    <p:extLst>
      <p:ext uri="{BB962C8B-B14F-4D97-AF65-F5344CB8AC3E}">
        <p14:creationId xmlns:p14="http://schemas.microsoft.com/office/powerpoint/2010/main" val="18537307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Metadata/LabelInfo.xml><?xml version="1.0" encoding="utf-8"?>
<clbl:labelList xmlns:clbl="http://schemas.microsoft.com/office/2020/mipLabelMetadata">
  <clbl:label id="{26523bf9-62ff-46b8-971b-9f6596da50c8}" enabled="1" method="Standard" siteId="{e8782eb5-7640-4ac4-a813-63ada3587d7c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</TotalTime>
  <Words>505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1" baseType="lpstr">
      <vt:lpstr>Arial</vt:lpstr>
      <vt:lpstr>Calibri</vt:lpstr>
      <vt:lpstr>Poppins</vt:lpstr>
      <vt:lpstr>Office Theme</vt:lpstr>
      <vt:lpstr>Apresentação do PowerPoint</vt:lpstr>
      <vt:lpstr>Nosso Time</vt:lpstr>
      <vt:lpstr>Considerações iniciais</vt:lpstr>
      <vt:lpstr>Dados do Problema Identificado</vt:lpstr>
      <vt:lpstr>Apresentação do PowerPoint</vt:lpstr>
      <vt:lpstr>Dados do Projeto</vt:lpstr>
      <vt:lpstr>Nossa Solução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Soiamma Tate de Souza Oliveira</dc:creator>
  <cp:lastModifiedBy>User</cp:lastModifiedBy>
  <cp:revision>53</cp:revision>
  <dcterms:created xsi:type="dcterms:W3CDTF">2022-11-09T01:00:34Z</dcterms:created>
  <dcterms:modified xsi:type="dcterms:W3CDTF">2026-09-18T23:31:05Z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2022-06-16T00:00:00Z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2022-11-09T00:00:00Z</vt:filetime>
  </property>
</Properties>
</file>